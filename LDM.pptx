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64" r:id="rId4"/>
    <p:sldId id="274" r:id="rId5"/>
    <p:sldId id="277" r:id="rId6"/>
    <p:sldId id="279" r:id="rId7"/>
    <p:sldId id="278" r:id="rId8"/>
    <p:sldId id="260" r:id="rId9"/>
    <p:sldId id="267" r:id="rId10"/>
    <p:sldId id="263" r:id="rId11"/>
    <p:sldId id="266" r:id="rId12"/>
    <p:sldId id="281" r:id="rId13"/>
    <p:sldId id="269" r:id="rId14"/>
    <p:sldId id="282" r:id="rId15"/>
    <p:sldId id="283" r:id="rId16"/>
    <p:sldId id="280" r:id="rId17"/>
    <p:sldId id="26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522" autoAdjust="0"/>
    <p:restoredTop sz="94660"/>
  </p:normalViewPr>
  <p:slideViewPr>
    <p:cSldViewPr snapToGrid="0" showGuides="1">
      <p:cViewPr varScale="1">
        <p:scale>
          <a:sx n="82" d="100"/>
          <a:sy n="82" d="100"/>
        </p:scale>
        <p:origin x="129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763951-DB6C-4068-BBE2-86FD02BDA4D8}" type="datetimeFigureOut">
              <a:rPr lang="en-IN" smtClean="0"/>
              <a:t>24-01-2025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B6282-3573-43D3-8343-85FD6CAA815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9E161EE-3FFC-4AF7-B0C9-F7E5FF6EABD9}" type="datetime1">
              <a:rPr lang="en-IN" smtClean="0"/>
              <a:t>24-01-2025</a:t>
            </a:fld>
            <a:endParaRPr lang="en-IN"/>
          </a:p>
        </p:txBody>
      </p:sp>
      <p:sp>
        <p:nvSpPr>
          <p:cNvPr id="5" name="Footer Placeholder 4"/>
          <p:cNvSpPr>
            <a:spLocks noGrp="1"/>
          </p:cNvSpPr>
          <p:nvPr>
            <p:ph type="ftr" sz="quarter" idx="11"/>
          </p:nvPr>
        </p:nvSpPr>
        <p:spPr/>
        <p:txBody>
          <a:bodyPr/>
          <a:lstStyle/>
          <a:p>
            <a:r>
              <a:rPr lang="en-IN"/>
              <a:t>Dept.of CSE- AIML &amp; IOT                                                                     VNR VJIET</a:t>
            </a:r>
          </a:p>
        </p:txBody>
      </p:sp>
      <p:sp>
        <p:nvSpPr>
          <p:cNvPr id="6" name="Slide Number Placeholder 5"/>
          <p:cNvSpPr>
            <a:spLocks noGrp="1"/>
          </p:cNvSpPr>
          <p:nvPr>
            <p:ph type="sldNum" sz="quarter" idx="12"/>
          </p:nvPr>
        </p:nvSpPr>
        <p:spPr/>
        <p:txBody>
          <a:bodyPr/>
          <a:lstStyle/>
          <a:p>
            <a:fld id="{62215367-F446-487C-8127-1859BC692CE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7B02155-19EC-4BB5-B55D-A1DEF9948B0D}" type="datetime1">
              <a:rPr lang="en-IN" smtClean="0"/>
              <a:t>24-01-2025</a:t>
            </a:fld>
            <a:endParaRPr lang="en-IN"/>
          </a:p>
        </p:txBody>
      </p:sp>
      <p:sp>
        <p:nvSpPr>
          <p:cNvPr id="5" name="Footer Placeholder 4"/>
          <p:cNvSpPr>
            <a:spLocks noGrp="1"/>
          </p:cNvSpPr>
          <p:nvPr>
            <p:ph type="ftr" sz="quarter" idx="11"/>
          </p:nvPr>
        </p:nvSpPr>
        <p:spPr/>
        <p:txBody>
          <a:bodyPr/>
          <a:lstStyle/>
          <a:p>
            <a:r>
              <a:rPr lang="en-IN"/>
              <a:t>Dept.of CSE- AIML &amp; IOT                                                                     VNR VJIET</a:t>
            </a:r>
          </a:p>
        </p:txBody>
      </p:sp>
      <p:sp>
        <p:nvSpPr>
          <p:cNvPr id="6" name="Slide Number Placeholder 5"/>
          <p:cNvSpPr>
            <a:spLocks noGrp="1"/>
          </p:cNvSpPr>
          <p:nvPr>
            <p:ph type="sldNum" sz="quarter" idx="12"/>
          </p:nvPr>
        </p:nvSpPr>
        <p:spPr/>
        <p:txBody>
          <a:bodyPr/>
          <a:lstStyle/>
          <a:p>
            <a:fld id="{62215367-F446-487C-8127-1859BC692CE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8FE30F-1E56-4F9C-8697-A69B23D9A594}" type="datetime1">
              <a:rPr lang="en-IN" smtClean="0"/>
              <a:t>24-01-2025</a:t>
            </a:fld>
            <a:endParaRPr lang="en-IN"/>
          </a:p>
        </p:txBody>
      </p:sp>
      <p:sp>
        <p:nvSpPr>
          <p:cNvPr id="5" name="Footer Placeholder 4"/>
          <p:cNvSpPr>
            <a:spLocks noGrp="1"/>
          </p:cNvSpPr>
          <p:nvPr>
            <p:ph type="ftr" sz="quarter" idx="11"/>
          </p:nvPr>
        </p:nvSpPr>
        <p:spPr/>
        <p:txBody>
          <a:bodyPr/>
          <a:lstStyle/>
          <a:p>
            <a:r>
              <a:rPr lang="en-IN"/>
              <a:t>Dept.of CSE- AIML &amp; IOT                                                                     VNR VJIET</a:t>
            </a:r>
          </a:p>
        </p:txBody>
      </p:sp>
      <p:sp>
        <p:nvSpPr>
          <p:cNvPr id="6" name="Slide Number Placeholder 5"/>
          <p:cNvSpPr>
            <a:spLocks noGrp="1"/>
          </p:cNvSpPr>
          <p:nvPr>
            <p:ph type="sldNum" sz="quarter" idx="12"/>
          </p:nvPr>
        </p:nvSpPr>
        <p:spPr/>
        <p:txBody>
          <a:bodyPr/>
          <a:lstStyle/>
          <a:p>
            <a:fld id="{62215367-F446-487C-8127-1859BC692CE6}"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128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82296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BD1504C-C6FD-4C8E-96F5-B4A35AFFFE32}" type="datetime1">
              <a:rPr lang="en-IN" smtClean="0"/>
              <a:t>24-01-2025</a:t>
            </a:fld>
            <a:endParaRPr lang="en-IN"/>
          </a:p>
        </p:txBody>
      </p:sp>
      <p:sp>
        <p:nvSpPr>
          <p:cNvPr id="6" name="Footer Placeholder 5"/>
          <p:cNvSpPr>
            <a:spLocks noGrp="1"/>
          </p:cNvSpPr>
          <p:nvPr>
            <p:ph type="ftr" sz="quarter" idx="11"/>
          </p:nvPr>
        </p:nvSpPr>
        <p:spPr/>
        <p:txBody>
          <a:bodyPr/>
          <a:lstStyle/>
          <a:p>
            <a:r>
              <a:rPr lang="en-IN"/>
              <a:t>Dept.of CSE- AIML &amp; IOT                                                                     VNR VJIET</a:t>
            </a:r>
          </a:p>
        </p:txBody>
      </p:sp>
      <p:sp>
        <p:nvSpPr>
          <p:cNvPr id="7" name="Slide Number Placeholder 6"/>
          <p:cNvSpPr>
            <a:spLocks noGrp="1"/>
          </p:cNvSpPr>
          <p:nvPr>
            <p:ph type="sldNum" sz="quarter" idx="12"/>
          </p:nvPr>
        </p:nvSpPr>
        <p:spPr/>
        <p:txBody>
          <a:bodyPr/>
          <a:lstStyle/>
          <a:p>
            <a:fld id="{62215367-F446-487C-8127-1859BC692CE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F2A9ACE-9257-43F7-8A9E-EC526A7F993E}" type="datetime1">
              <a:rPr lang="en-IN" smtClean="0"/>
              <a:t>24-01-2025</a:t>
            </a:fld>
            <a:endParaRPr lang="en-IN"/>
          </a:p>
        </p:txBody>
      </p:sp>
      <p:sp>
        <p:nvSpPr>
          <p:cNvPr id="8" name="Footer Placeholder 7"/>
          <p:cNvSpPr>
            <a:spLocks noGrp="1"/>
          </p:cNvSpPr>
          <p:nvPr>
            <p:ph type="ftr" sz="quarter" idx="11"/>
          </p:nvPr>
        </p:nvSpPr>
        <p:spPr/>
        <p:txBody>
          <a:bodyPr/>
          <a:lstStyle/>
          <a:p>
            <a:r>
              <a:rPr lang="en-IN"/>
              <a:t>Dept.of CSE- AIML &amp; IOT                                                                     VNR VJIET</a:t>
            </a:r>
          </a:p>
        </p:txBody>
      </p:sp>
      <p:sp>
        <p:nvSpPr>
          <p:cNvPr id="9" name="Slide Number Placeholder 8"/>
          <p:cNvSpPr>
            <a:spLocks noGrp="1"/>
          </p:cNvSpPr>
          <p:nvPr>
            <p:ph type="sldNum" sz="quarter" idx="12"/>
          </p:nvPr>
        </p:nvSpPr>
        <p:spPr/>
        <p:txBody>
          <a:bodyPr/>
          <a:lstStyle/>
          <a:p>
            <a:fld id="{62215367-F446-487C-8127-1859BC692CE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FDC90AD-F359-4A69-B583-0108B39040E5}" type="datetime1">
              <a:rPr lang="en-IN" smtClean="0"/>
              <a:t>24-01-2025</a:t>
            </a:fld>
            <a:endParaRPr lang="en-IN"/>
          </a:p>
        </p:txBody>
      </p:sp>
      <p:sp>
        <p:nvSpPr>
          <p:cNvPr id="4" name="Footer Placeholder 3"/>
          <p:cNvSpPr>
            <a:spLocks noGrp="1"/>
          </p:cNvSpPr>
          <p:nvPr>
            <p:ph type="ftr" sz="quarter" idx="11"/>
          </p:nvPr>
        </p:nvSpPr>
        <p:spPr/>
        <p:txBody>
          <a:bodyPr/>
          <a:lstStyle/>
          <a:p>
            <a:r>
              <a:rPr lang="en-IN"/>
              <a:t>Dept.of CSE- AIML &amp; IOT                                                                     VNR VJIET</a:t>
            </a:r>
          </a:p>
        </p:txBody>
      </p:sp>
      <p:sp>
        <p:nvSpPr>
          <p:cNvPr id="5" name="Slide Number Placeholder 4"/>
          <p:cNvSpPr>
            <a:spLocks noGrp="1"/>
          </p:cNvSpPr>
          <p:nvPr>
            <p:ph type="sldNum" sz="quarter" idx="12"/>
          </p:nvPr>
        </p:nvSpPr>
        <p:spPr/>
        <p:txBody>
          <a:bodyPr/>
          <a:lstStyle/>
          <a:p>
            <a:fld id="{62215367-F446-487C-8127-1859BC692CE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E5413A-F8F6-4127-A727-8FD7F4149467}" type="datetime1">
              <a:rPr lang="en-IN" smtClean="0"/>
              <a:t>24-01-2025</a:t>
            </a:fld>
            <a:endParaRPr lang="en-IN"/>
          </a:p>
        </p:txBody>
      </p:sp>
      <p:sp>
        <p:nvSpPr>
          <p:cNvPr id="3" name="Footer Placeholder 2"/>
          <p:cNvSpPr>
            <a:spLocks noGrp="1"/>
          </p:cNvSpPr>
          <p:nvPr>
            <p:ph type="ftr" sz="quarter" idx="11"/>
          </p:nvPr>
        </p:nvSpPr>
        <p:spPr/>
        <p:txBody>
          <a:bodyPr/>
          <a:lstStyle/>
          <a:p>
            <a:r>
              <a:rPr lang="en-IN"/>
              <a:t>Dept.of CSE- AIML &amp; IOT                                                                     VNR VJIET</a:t>
            </a:r>
          </a:p>
        </p:txBody>
      </p:sp>
      <p:sp>
        <p:nvSpPr>
          <p:cNvPr id="4" name="Slide Number Placeholder 3"/>
          <p:cNvSpPr>
            <a:spLocks noGrp="1"/>
          </p:cNvSpPr>
          <p:nvPr>
            <p:ph type="sldNum" sz="quarter" idx="12"/>
          </p:nvPr>
        </p:nvSpPr>
        <p:spPr/>
        <p:txBody>
          <a:bodyPr/>
          <a:lstStyle/>
          <a:p>
            <a:fld id="{62215367-F446-487C-8127-1859BC692CE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968B9E-6AF0-49F1-B3BA-A00214D3623D}" type="datetime1">
              <a:rPr lang="en-IN" smtClean="0"/>
              <a:t>24-01-2025</a:t>
            </a:fld>
            <a:endParaRPr lang="en-IN"/>
          </a:p>
        </p:txBody>
      </p:sp>
      <p:sp>
        <p:nvSpPr>
          <p:cNvPr id="6" name="Footer Placeholder 5"/>
          <p:cNvSpPr>
            <a:spLocks noGrp="1"/>
          </p:cNvSpPr>
          <p:nvPr>
            <p:ph type="ftr" sz="quarter" idx="11"/>
          </p:nvPr>
        </p:nvSpPr>
        <p:spPr/>
        <p:txBody>
          <a:bodyPr/>
          <a:lstStyle/>
          <a:p>
            <a:r>
              <a:rPr lang="en-IN"/>
              <a:t>Dept.of CSE- AIML &amp; IOT                                                                     VNR VJIET</a:t>
            </a:r>
          </a:p>
        </p:txBody>
      </p:sp>
      <p:sp>
        <p:nvSpPr>
          <p:cNvPr id="7" name="Slide Number Placeholder 6"/>
          <p:cNvSpPr>
            <a:spLocks noGrp="1"/>
          </p:cNvSpPr>
          <p:nvPr>
            <p:ph type="sldNum" sz="quarter" idx="12"/>
          </p:nvPr>
        </p:nvSpPr>
        <p:spPr/>
        <p:txBody>
          <a:bodyPr/>
          <a:lstStyle/>
          <a:p>
            <a:fld id="{62215367-F446-487C-8127-1859BC692CE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04B6D6-C11B-401C-8535-F139BB312FCB}" type="datetime1">
              <a:rPr lang="en-IN" smtClean="0"/>
              <a:t>24-01-2025</a:t>
            </a:fld>
            <a:endParaRPr lang="en-IN"/>
          </a:p>
        </p:txBody>
      </p:sp>
      <p:sp>
        <p:nvSpPr>
          <p:cNvPr id="6" name="Footer Placeholder 5"/>
          <p:cNvSpPr>
            <a:spLocks noGrp="1"/>
          </p:cNvSpPr>
          <p:nvPr>
            <p:ph type="ftr" sz="quarter" idx="11"/>
          </p:nvPr>
        </p:nvSpPr>
        <p:spPr/>
        <p:txBody>
          <a:bodyPr/>
          <a:lstStyle/>
          <a:p>
            <a:r>
              <a:rPr lang="en-IN"/>
              <a:t>Dept.of CSE- AIML &amp; IOT                                                                     VNR VJIET</a:t>
            </a:r>
          </a:p>
        </p:txBody>
      </p:sp>
      <p:sp>
        <p:nvSpPr>
          <p:cNvPr id="7" name="Slide Number Placeholder 6"/>
          <p:cNvSpPr>
            <a:spLocks noGrp="1"/>
          </p:cNvSpPr>
          <p:nvPr>
            <p:ph type="sldNum" sz="quarter" idx="12"/>
          </p:nvPr>
        </p:nvSpPr>
        <p:spPr/>
        <p:txBody>
          <a:bodyPr/>
          <a:lstStyle/>
          <a:p>
            <a:fld id="{62215367-F446-487C-8127-1859BC692CE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E40C10-CAE1-4EAE-AADA-9E74CB9EFABE}" type="datetime1">
              <a:rPr lang="en-IN" smtClean="0"/>
              <a:t>24-01-2025</a:t>
            </a:fld>
            <a:endParaRPr lang="en-IN"/>
          </a:p>
        </p:txBody>
      </p:sp>
      <p:sp>
        <p:nvSpPr>
          <p:cNvPr id="5" name="Footer Placeholder 4"/>
          <p:cNvSpPr>
            <a:spLocks noGrp="1"/>
          </p:cNvSpPr>
          <p:nvPr>
            <p:ph type="ftr" sz="quarter" idx="11"/>
          </p:nvPr>
        </p:nvSpPr>
        <p:spPr/>
        <p:txBody>
          <a:bodyPr/>
          <a:lstStyle/>
          <a:p>
            <a:r>
              <a:rPr lang="en-IN"/>
              <a:t>Dept.of CSE- AIML &amp; IOT                                                                     VNR VJIET</a:t>
            </a:r>
          </a:p>
        </p:txBody>
      </p:sp>
      <p:sp>
        <p:nvSpPr>
          <p:cNvPr id="6" name="Slide Number Placeholder 5"/>
          <p:cNvSpPr>
            <a:spLocks noGrp="1"/>
          </p:cNvSpPr>
          <p:nvPr>
            <p:ph type="sldNum" sz="quarter" idx="12"/>
          </p:nvPr>
        </p:nvSpPr>
        <p:spPr/>
        <p:txBody>
          <a:bodyPr/>
          <a:lstStyle/>
          <a:p>
            <a:fld id="{62215367-F446-487C-8127-1859BC692CE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5"/>
            <a:ext cx="36576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12800" y="274645"/>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59E65F-B1C8-4F87-BB02-33D6AD199047}" type="datetime1">
              <a:rPr lang="en-IN" smtClean="0"/>
              <a:t>24-01-2025</a:t>
            </a:fld>
            <a:endParaRPr lang="en-IN"/>
          </a:p>
        </p:txBody>
      </p:sp>
      <p:sp>
        <p:nvSpPr>
          <p:cNvPr id="5" name="Footer Placeholder 4"/>
          <p:cNvSpPr>
            <a:spLocks noGrp="1"/>
          </p:cNvSpPr>
          <p:nvPr>
            <p:ph type="ftr" sz="quarter" idx="11"/>
          </p:nvPr>
        </p:nvSpPr>
        <p:spPr/>
        <p:txBody>
          <a:bodyPr/>
          <a:lstStyle/>
          <a:p>
            <a:r>
              <a:rPr lang="en-IN"/>
              <a:t>Dept.of CSE- AIML &amp; IOT                                                                     VNR VJIET</a:t>
            </a:r>
          </a:p>
        </p:txBody>
      </p:sp>
      <p:sp>
        <p:nvSpPr>
          <p:cNvPr id="6" name="Slide Number Placeholder 5"/>
          <p:cNvSpPr>
            <a:spLocks noGrp="1"/>
          </p:cNvSpPr>
          <p:nvPr>
            <p:ph type="sldNum" sz="quarter" idx="12"/>
          </p:nvPr>
        </p:nvSpPr>
        <p:spPr/>
        <p:txBody>
          <a:bodyPr/>
          <a:lstStyle/>
          <a:p>
            <a:fld id="{62215367-F446-487C-8127-1859BC692CE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7"/>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63B152-D35F-470A-A24A-C2A47E5B2476}" type="datetime1">
              <a:rPr lang="en-IN" smtClean="0"/>
              <a:t>24-01-2025</a:t>
            </a:fld>
            <a:endParaRPr lang="en-IN"/>
          </a:p>
        </p:txBody>
      </p:sp>
      <p:sp>
        <p:nvSpPr>
          <p:cNvPr id="5" name="Footer Placeholder 4"/>
          <p:cNvSpPr>
            <a:spLocks noGrp="1"/>
          </p:cNvSpPr>
          <p:nvPr>
            <p:ph type="ftr" sz="quarter" idx="3"/>
          </p:nvPr>
        </p:nvSpPr>
        <p:spPr>
          <a:xfrm>
            <a:off x="4165600" y="6356357"/>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Dept.of CSE- AIML &amp; IOT                                                                     VNR VJIET</a:t>
            </a:r>
          </a:p>
        </p:txBody>
      </p:sp>
      <p:sp>
        <p:nvSpPr>
          <p:cNvPr id="6" name="Slide Number Placeholder 5"/>
          <p:cNvSpPr>
            <a:spLocks noGrp="1"/>
          </p:cNvSpPr>
          <p:nvPr>
            <p:ph type="sldNum" sz="quarter" idx="4"/>
          </p:nvPr>
        </p:nvSpPr>
        <p:spPr>
          <a:xfrm>
            <a:off x="8737600" y="6356357"/>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215367-F446-487C-8127-1859BC692CE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1479" y="2111828"/>
            <a:ext cx="9144000" cy="1033463"/>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LANGUAGE DETECTION MODEL</a:t>
            </a:r>
            <a:br>
              <a:rPr lang="en-US" sz="40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(using NLP)</a:t>
            </a:r>
            <a:endParaRPr lang="en-IN" sz="36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457201" y="6356357"/>
            <a:ext cx="11249024" cy="311143"/>
          </a:xfrm>
        </p:spPr>
        <p:txBody>
          <a:bodyPr/>
          <a:lstStyle/>
          <a:p>
            <a:r>
              <a:rPr lang="en-IN" dirty="0">
                <a:latin typeface="Aptos Narrow" panose="020B0004020202020204" pitchFamily="34" charset="0"/>
                <a:cs typeface="Times New Roman" panose="02020603050405020304" pitchFamily="18" charset="0"/>
              </a:rPr>
              <a:t>Dept. of CSE- AIML &amp; IOT                                                                                                                                                                                                                                                                                           VNR VJIET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solidFill>
                  <a:schemeClr val="tx2"/>
                </a:solidFill>
                <a:latin typeface="Times New Roman" panose="02020603050405020304" pitchFamily="18" charset="0"/>
                <a:cs typeface="Times New Roman" panose="02020603050405020304" pitchFamily="18" charset="0"/>
              </a:rPr>
              <a:t>Abstract</a:t>
            </a:r>
            <a:r>
              <a:rPr lang="en-US" sz="4000" dirty="0">
                <a:solidFill>
                  <a:schemeClr val="tx2"/>
                </a:solidFill>
                <a:latin typeface="Times New Roman" panose="02020603050405020304" pitchFamily="18" charset="0"/>
                <a:cs typeface="Times New Roman" panose="02020603050405020304" pitchFamily="18" charset="0"/>
              </a:rPr>
              <a:t> </a:t>
            </a:r>
            <a:endParaRPr lang="en-IN" sz="4000"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23732"/>
            <a:ext cx="10972800" cy="5202438"/>
          </a:xfrm>
        </p:spPr>
        <p:txBody>
          <a:bodyPr>
            <a:normAutofit/>
          </a:bodyPr>
          <a:lstStyle/>
          <a:p>
            <a:pPr marL="0" indent="0" algn="just">
              <a:buNone/>
            </a:pPr>
            <a:endPar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This study presents the development of a Language Detection Model aimed at accurately identifying the language of given text samples. The model preprocesses text data to remove unnecessary characters and standardize it. The processed text is then transformed into a numerical format suitable for analysis.</a:t>
            </a:r>
          </a:p>
          <a:p>
            <a:pPr marL="0" indent="0" algn="just">
              <a:buNone/>
            </a:pPr>
            <a:r>
              <a:rPr lang="en-US" sz="2000" dirty="0">
                <a:latin typeface="Times New Roman" panose="02020603050405020304" pitchFamily="18" charset="0"/>
                <a:cs typeface="Times New Roman" panose="02020603050405020304" pitchFamily="18" charset="0"/>
              </a:rPr>
              <a:t>The dataset is divided into training and testing sets, allowing the model to learn from one portion of the data and be evaluated on another. The model's performance is measured using a balanced accuracy metric, demonstrating its effectiveness in predicting the language of new text samples.</a:t>
            </a:r>
          </a:p>
          <a:p>
            <a:pPr marL="0" indent="0" algn="just">
              <a:buNone/>
            </a:pPr>
            <a:r>
              <a:rPr lang="en-US" sz="2000" dirty="0">
                <a:latin typeface="Times New Roman" panose="02020603050405020304" pitchFamily="18" charset="0"/>
                <a:cs typeface="Times New Roman" panose="02020603050405020304" pitchFamily="18" charset="0"/>
              </a:rPr>
              <a:t>Additionally, a custom function is provided to enable real-time language detection for any input text. This model is versatile and can be applied to various tasks such as identifying the language of web content, analyzing sentiments in different languages, and classifying documents based on language. The approach ensures that the language detection process is both accurate and reliable, making it a valuable tool for multilingual text processing.</a:t>
            </a:r>
          </a:p>
        </p:txBody>
      </p:sp>
      <p:sp>
        <p:nvSpPr>
          <p:cNvPr id="4" name="Footer Placeholder 3"/>
          <p:cNvSpPr>
            <a:spLocks noGrp="1"/>
          </p:cNvSpPr>
          <p:nvPr>
            <p:ph type="ftr" sz="quarter" idx="11"/>
          </p:nvPr>
        </p:nvSpPr>
        <p:spPr/>
        <p:txBody>
          <a:bodyPr/>
          <a:lstStyle/>
          <a:p>
            <a:r>
              <a:rPr lang="en-IN"/>
              <a:t>Dept.of CSE- AIML &amp; IOT                                                                     VNR VJIET</a:t>
            </a:r>
          </a:p>
        </p:txBody>
      </p:sp>
      <p:sp>
        <p:nvSpPr>
          <p:cNvPr id="5" name="Rectangle 4">
            <a:extLst>
              <a:ext uri="{FF2B5EF4-FFF2-40B4-BE49-F238E27FC236}">
                <a16:creationId xmlns:a16="http://schemas.microsoft.com/office/drawing/2014/main" id="{6323963E-3FE2-C74F-9F0A-495CF0E92AF1}"/>
              </a:ext>
            </a:extLst>
          </p:cNvPr>
          <p:cNvSpPr/>
          <p:nvPr/>
        </p:nvSpPr>
        <p:spPr>
          <a:xfrm>
            <a:off x="270588" y="242596"/>
            <a:ext cx="11616612" cy="588761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chemeClr val="tx2"/>
                </a:solidFill>
              </a:rPr>
              <a:t>Introduction</a:t>
            </a:r>
            <a:endParaRPr lang="en-IN" sz="4000" b="1" dirty="0">
              <a:solidFill>
                <a:schemeClr val="tx2"/>
              </a:solidFill>
            </a:endParaRPr>
          </a:p>
        </p:txBody>
      </p:sp>
      <p:sp>
        <p:nvSpPr>
          <p:cNvPr id="3" name="Content Placeholder 2"/>
          <p:cNvSpPr>
            <a:spLocks noGrp="1"/>
          </p:cNvSpPr>
          <p:nvPr>
            <p:ph idx="1"/>
          </p:nvPr>
        </p:nvSpPr>
        <p:spPr>
          <a:xfrm>
            <a:off x="609600" y="1166018"/>
            <a:ext cx="10972800" cy="4525963"/>
          </a:xfrm>
        </p:spPr>
        <p:txBody>
          <a:bodyPr>
            <a:normAutofit/>
          </a:bodyPr>
          <a:lstStyle/>
          <a:p>
            <a:r>
              <a:rPr lang="en-US" sz="2000" dirty="0"/>
              <a:t>Language detection is a critical component of Natural Language Processing (NLP) for applications such as content management, sentiment analysis, and document classification. With the exponential growth of multilingual text data, accurate language detection models are essential for handling the complexities of modern text data. Traditional language detection methods often fall short in accuracy when applied to diverse and noisy datasets.</a:t>
            </a:r>
          </a:p>
          <a:p>
            <a:r>
              <a:rPr lang="en-US" sz="2000" dirty="0"/>
              <a:t>This project aims to develop a robust language detection model by implementing advanced text preprocessing techniques, including tokenization, </a:t>
            </a:r>
            <a:r>
              <a:rPr lang="en-US" sz="2000" dirty="0" err="1"/>
              <a:t>stopword</a:t>
            </a:r>
            <a:r>
              <a:rPr lang="en-US" sz="2000" dirty="0"/>
              <a:t> removal, and lemmatization, to clean and standardize text inputs. The model is trained and evaluated on a labeled dataset, ensuring that its performance is effective and reliable. The objective is to create a tool that accurately identifies languages across various text inputs, supporting applications in web content categorization, multilingual analysis, and automated document classification.</a:t>
            </a:r>
          </a:p>
        </p:txBody>
      </p:sp>
      <p:sp>
        <p:nvSpPr>
          <p:cNvPr id="4" name="Footer Placeholder 3"/>
          <p:cNvSpPr>
            <a:spLocks noGrp="1"/>
          </p:cNvSpPr>
          <p:nvPr>
            <p:ph type="ftr" sz="quarter" idx="11"/>
          </p:nvPr>
        </p:nvSpPr>
        <p:spPr/>
        <p:txBody>
          <a:bodyPr/>
          <a:lstStyle/>
          <a:p>
            <a:r>
              <a:rPr lang="en-IN"/>
              <a:t>Dept.of CSE- AIML &amp; IOT                                                                     VNR VJIET</a:t>
            </a:r>
          </a:p>
        </p:txBody>
      </p:sp>
      <p:sp>
        <p:nvSpPr>
          <p:cNvPr id="5" name="Rectangle 4">
            <a:extLst>
              <a:ext uri="{FF2B5EF4-FFF2-40B4-BE49-F238E27FC236}">
                <a16:creationId xmlns:a16="http://schemas.microsoft.com/office/drawing/2014/main" id="{2130325B-5AAA-968A-FC11-BAC480FFA87F}"/>
              </a:ext>
            </a:extLst>
          </p:cNvPr>
          <p:cNvSpPr/>
          <p:nvPr/>
        </p:nvSpPr>
        <p:spPr>
          <a:xfrm>
            <a:off x="270588" y="242596"/>
            <a:ext cx="11616612" cy="588761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Dept.of CSE- AIML &amp; IOT                                                                     VNR VJIET</a:t>
            </a:r>
          </a:p>
        </p:txBody>
      </p:sp>
      <p:graphicFrame>
        <p:nvGraphicFramePr>
          <p:cNvPr id="3" name="Table 2"/>
          <p:cNvGraphicFramePr>
            <a:graphicFrameLocks noGrp="1"/>
          </p:cNvGraphicFramePr>
          <p:nvPr>
            <p:custDataLst>
              <p:tags r:id="rId1"/>
            </p:custDataLst>
            <p:extLst>
              <p:ext uri="{D42A27DB-BD31-4B8C-83A1-F6EECF244321}">
                <p14:modId xmlns:p14="http://schemas.microsoft.com/office/powerpoint/2010/main" val="1716807669"/>
              </p:ext>
            </p:extLst>
          </p:nvPr>
        </p:nvGraphicFramePr>
        <p:xfrm>
          <a:off x="128905" y="506095"/>
          <a:ext cx="11933555" cy="5913120"/>
        </p:xfrm>
        <a:graphic>
          <a:graphicData uri="http://schemas.openxmlformats.org/drawingml/2006/table">
            <a:tbl>
              <a:tblPr firstRow="1" bandRow="1">
                <a:tableStyleId>{5C22544A-7EE6-4342-B048-85BDC9FD1C3A}</a:tableStyleId>
              </a:tblPr>
              <a:tblGrid>
                <a:gridCol w="403225">
                  <a:extLst>
                    <a:ext uri="{9D8B030D-6E8A-4147-A177-3AD203B41FA5}">
                      <a16:colId xmlns:a16="http://schemas.microsoft.com/office/drawing/2014/main" val="20000"/>
                    </a:ext>
                  </a:extLst>
                </a:gridCol>
                <a:gridCol w="1146175">
                  <a:extLst>
                    <a:ext uri="{9D8B030D-6E8A-4147-A177-3AD203B41FA5}">
                      <a16:colId xmlns:a16="http://schemas.microsoft.com/office/drawing/2014/main" val="20001"/>
                    </a:ext>
                  </a:extLst>
                </a:gridCol>
                <a:gridCol w="1018540">
                  <a:extLst>
                    <a:ext uri="{9D8B030D-6E8A-4147-A177-3AD203B41FA5}">
                      <a16:colId xmlns:a16="http://schemas.microsoft.com/office/drawing/2014/main" val="20002"/>
                    </a:ext>
                  </a:extLst>
                </a:gridCol>
                <a:gridCol w="1539240">
                  <a:extLst>
                    <a:ext uri="{9D8B030D-6E8A-4147-A177-3AD203B41FA5}">
                      <a16:colId xmlns:a16="http://schemas.microsoft.com/office/drawing/2014/main" val="20003"/>
                    </a:ext>
                  </a:extLst>
                </a:gridCol>
                <a:gridCol w="2136775">
                  <a:extLst>
                    <a:ext uri="{9D8B030D-6E8A-4147-A177-3AD203B41FA5}">
                      <a16:colId xmlns:a16="http://schemas.microsoft.com/office/drawing/2014/main" val="20004"/>
                    </a:ext>
                  </a:extLst>
                </a:gridCol>
                <a:gridCol w="1670050">
                  <a:extLst>
                    <a:ext uri="{9D8B030D-6E8A-4147-A177-3AD203B41FA5}">
                      <a16:colId xmlns:a16="http://schemas.microsoft.com/office/drawing/2014/main" val="20005"/>
                    </a:ext>
                  </a:extLst>
                </a:gridCol>
                <a:gridCol w="1838325">
                  <a:extLst>
                    <a:ext uri="{9D8B030D-6E8A-4147-A177-3AD203B41FA5}">
                      <a16:colId xmlns:a16="http://schemas.microsoft.com/office/drawing/2014/main" val="20006"/>
                    </a:ext>
                  </a:extLst>
                </a:gridCol>
                <a:gridCol w="2181225">
                  <a:extLst>
                    <a:ext uri="{9D8B030D-6E8A-4147-A177-3AD203B41FA5}">
                      <a16:colId xmlns:a16="http://schemas.microsoft.com/office/drawing/2014/main" val="20007"/>
                    </a:ext>
                  </a:extLst>
                </a:gridCol>
              </a:tblGrid>
              <a:tr h="1188720">
                <a:tc>
                  <a:txBody>
                    <a:bodyPr/>
                    <a:lstStyle/>
                    <a:p>
                      <a:r>
                        <a:rPr lang="en-US" dirty="0"/>
                        <a:t>SNO</a:t>
                      </a:r>
                      <a:endParaRPr lang="en-IN" dirty="0"/>
                    </a:p>
                  </a:txBody>
                  <a:tcPr/>
                </a:tc>
                <a:tc>
                  <a:txBody>
                    <a:bodyPr/>
                    <a:lstStyle/>
                    <a:p>
                      <a:r>
                        <a:rPr lang="en-US" dirty="0"/>
                        <a:t>TITLE OF THE PAPER</a:t>
                      </a:r>
                      <a:endParaRPr lang="en-IN" dirty="0"/>
                    </a:p>
                  </a:txBody>
                  <a:tcPr/>
                </a:tc>
                <a:tc>
                  <a:txBody>
                    <a:bodyPr/>
                    <a:lstStyle/>
                    <a:p>
                      <a:r>
                        <a:rPr lang="en-US" dirty="0"/>
                        <a:t>TITLE OF THE JOURNAL</a:t>
                      </a:r>
                      <a:endParaRPr lang="en-IN" dirty="0"/>
                    </a:p>
                  </a:txBody>
                  <a:tcPr/>
                </a:tc>
                <a:tc>
                  <a:txBody>
                    <a:bodyPr/>
                    <a:lstStyle/>
                    <a:p>
                      <a:r>
                        <a:rPr lang="en-US" dirty="0"/>
                        <a:t>REFERENCE WITH DOI</a:t>
                      </a:r>
                      <a:endParaRPr lang="en-IN" dirty="0"/>
                    </a:p>
                  </a:txBody>
                  <a:tcPr/>
                </a:tc>
                <a:tc>
                  <a:txBody>
                    <a:bodyPr/>
                    <a:lstStyle/>
                    <a:p>
                      <a:r>
                        <a:rPr lang="en-US" dirty="0"/>
                        <a:t>PROBLEMS OR GAP ADDRESSED</a:t>
                      </a:r>
                      <a:endParaRPr lang="en-IN" dirty="0"/>
                    </a:p>
                  </a:txBody>
                  <a:tcPr/>
                </a:tc>
                <a:tc>
                  <a:txBody>
                    <a:bodyPr/>
                    <a:lstStyle/>
                    <a:p>
                      <a:r>
                        <a:rPr lang="en-US" dirty="0"/>
                        <a:t>OBJECTIVE OF THE PAPER</a:t>
                      </a:r>
                      <a:endParaRPr lang="en-IN" dirty="0"/>
                    </a:p>
                  </a:txBody>
                  <a:tcPr/>
                </a:tc>
                <a:tc>
                  <a:txBody>
                    <a:bodyPr/>
                    <a:lstStyle/>
                    <a:p>
                      <a:r>
                        <a:rPr lang="en-US" dirty="0"/>
                        <a:t>FOCUS OF THE PAPER</a:t>
                      </a:r>
                      <a:endParaRPr lang="en-IN" dirty="0"/>
                    </a:p>
                  </a:txBody>
                  <a:tcPr/>
                </a:tc>
                <a:tc>
                  <a:txBody>
                    <a:bodyPr/>
                    <a:lstStyle/>
                    <a:p>
                      <a:r>
                        <a:rPr lang="en-US" dirty="0"/>
                        <a:t>SUMMARY</a:t>
                      </a:r>
                      <a:endParaRPr lang="en-IN" dirty="0"/>
                    </a:p>
                  </a:txBody>
                  <a:tcPr/>
                </a:tc>
                <a:extLst>
                  <a:ext uri="{0D108BD9-81ED-4DB2-BD59-A6C34878D82A}">
                    <a16:rowId xmlns:a16="http://schemas.microsoft.com/office/drawing/2014/main" val="10000"/>
                  </a:ext>
                </a:extLst>
              </a:tr>
              <a:tr h="4724400">
                <a:tc>
                  <a:txBody>
                    <a:bodyPr/>
                    <a:lstStyle/>
                    <a:p>
                      <a:r>
                        <a:rPr lang="en-US" dirty="0"/>
                        <a:t>1</a:t>
                      </a:r>
                      <a:endParaRPr lang="en-IN" dirty="0"/>
                    </a:p>
                  </a:txBody>
                  <a:tcPr>
                    <a:solidFill>
                      <a:schemeClr val="accent1">
                        <a:lumMod val="60000"/>
                        <a:lumOff val="40000"/>
                      </a:schemeClr>
                    </a:solidFill>
                  </a:tcPr>
                </a:tc>
                <a:tc>
                  <a:txBody>
                    <a:bodyPr/>
                    <a:lstStyle/>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Text Based Language Identification System for </a:t>
                      </a:r>
                      <a:endParaRPr lang="en-US" sz="1600" b="0" dirty="0">
                        <a:solidFill>
                          <a:schemeClr val="tx1"/>
                        </a:solidFill>
                        <a:latin typeface="Times New Roman" panose="02020603050405020304" pitchFamily="18" charset="0"/>
                        <a:cs typeface="Times New Roman" panose="02020603050405020304" pitchFamily="18" charset="0"/>
                      </a:endParaRPr>
                    </a:p>
                    <a:p>
                      <a:r>
                        <a:rPr lang="en-US" sz="1600" b="0" kern="1200" dirty="0">
                          <a:solidFill>
                            <a:schemeClr val="tx1"/>
                          </a:solidFill>
                          <a:effectLst/>
                          <a:latin typeface="Times New Roman" panose="02020603050405020304" pitchFamily="18" charset="0"/>
                          <a:ea typeface="+mn-ea"/>
                          <a:cs typeface="Times New Roman" panose="02020603050405020304" pitchFamily="18" charset="0"/>
                        </a:rPr>
                        <a:t>Indian Languages Following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Devanagiri</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Script </a:t>
                      </a:r>
                      <a:endParaRPr lang="en-IN" sz="1600" b="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60000"/>
                        <a:lumOff val="40000"/>
                      </a:schemeClr>
                    </a:solidFill>
                  </a:tcPr>
                </a:tc>
                <a:tc>
                  <a:txBody>
                    <a:bodyPr/>
                    <a:lstStyle/>
                    <a:p>
                      <a:r>
                        <a:rPr lang="en-US" sz="1600" kern="1200" dirty="0">
                          <a:solidFill>
                            <a:schemeClr val="tx1"/>
                          </a:solidFill>
                          <a:effectLst/>
                          <a:latin typeface="Times New Roman" panose="02020603050405020304" pitchFamily="18" charset="0"/>
                          <a:ea typeface="+mn-ea"/>
                          <a:cs typeface="Times New Roman" panose="02020603050405020304" pitchFamily="18" charset="0"/>
                        </a:rPr>
                        <a:t>International Journal of Engineering Research &amp; Technology (IJERT)</a:t>
                      </a:r>
                      <a:endParaRPr lang="en-IN" sz="16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60000"/>
                        <a:lumOff val="40000"/>
                      </a:schemeClr>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https://scholar.google.com/scholar?hl=en&amp;as_sdt=0%2C5&amp;q=text+based+language+identification+system+for+Indian+language&amp;oq=text+based+language+identification+system+for+Indian+langi#d=gs_qabs&amp;t=1719580899703&amp;u=%23p%3DJSjIqI1M2dUJ</a:t>
                      </a:r>
                    </a:p>
                  </a:txBody>
                  <a:tcPr>
                    <a:solidFill>
                      <a:schemeClr val="accent1">
                        <a:lumMod val="60000"/>
                        <a:lumOff val="40000"/>
                      </a:schemeClr>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The problem addressed in the paper is the automatic recognition of languages from a given text document, particularly focusing on the difficulty of discriminating between languages within the same family as opposed to those across different families .</a:t>
                      </a:r>
                      <a:endParaRPr lang="en-IN" sz="16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60000"/>
                        <a:lumOff val="40000"/>
                      </a:schemeClr>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The objective of the paper is to build a text-based language identification system for Indian languages that use the Devanagari script. The system aims to utilize n-grams as features for classification</a:t>
                      </a:r>
                      <a:endParaRPr lang="en-IN" sz="16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60000"/>
                        <a:lumOff val="40000"/>
                      </a:schemeClr>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The paper focuses on investigating the performance of statistical measures for text-based language identification. The emphasis is on five languages used in India based on the Devanagari script: Hindi, Sanskrit, Marathi, Nepali, and Bhojpuri​</a:t>
                      </a:r>
                      <a:endParaRPr lang="en-IN" sz="16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60000"/>
                        <a:lumOff val="40000"/>
                      </a:schemeClr>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The paper presents a language identification system for Indian languages using the Devanagari script. It uses n-grams for classification, focusing on Hindi, Sanskrit, Marathi, Nepali, and Bhojpuri. The study includes a literature survey, an n-gram model implementation, and experimental results, emphasizing the importance of language identification in natural language processing task</a:t>
                      </a:r>
                      <a:endParaRPr lang="en-IN" sz="16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60000"/>
                        <a:lumOff val="40000"/>
                      </a:schemeClr>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3647440" y="136518"/>
            <a:ext cx="4196080" cy="369332"/>
          </a:xfrm>
          <a:prstGeom prst="rect">
            <a:avLst/>
          </a:prstGeom>
          <a:noFill/>
        </p:spPr>
        <p:txBody>
          <a:bodyPr wrap="square" rtlCol="0">
            <a:spAutoFit/>
          </a:bodyPr>
          <a:lstStyle/>
          <a:p>
            <a:pPr algn="ctr"/>
            <a:r>
              <a:rPr lang="en-US" b="1" dirty="0"/>
              <a:t>Literature</a:t>
            </a:r>
            <a:r>
              <a:rPr lang="en-US" dirty="0"/>
              <a:t> </a:t>
            </a:r>
            <a:r>
              <a:rPr lang="en-US" b="1" dirty="0"/>
              <a:t>Survey</a:t>
            </a:r>
            <a:endParaRPr lang="en-IN"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Dept.of CSE- AIML &amp; IOT                                                                     VNR VJIET</a:t>
            </a:r>
          </a:p>
        </p:txBody>
      </p:sp>
      <p:graphicFrame>
        <p:nvGraphicFramePr>
          <p:cNvPr id="3" name="Table 2"/>
          <p:cNvGraphicFramePr>
            <a:graphicFrameLocks noGrp="1"/>
          </p:cNvGraphicFramePr>
          <p:nvPr>
            <p:extLst>
              <p:ext uri="{D42A27DB-BD31-4B8C-83A1-F6EECF244321}">
                <p14:modId xmlns:p14="http://schemas.microsoft.com/office/powerpoint/2010/main" val="77972703"/>
              </p:ext>
            </p:extLst>
          </p:nvPr>
        </p:nvGraphicFramePr>
        <p:xfrm>
          <a:off x="121920" y="264160"/>
          <a:ext cx="11938001" cy="5872480"/>
        </p:xfrm>
        <a:graphic>
          <a:graphicData uri="http://schemas.openxmlformats.org/drawingml/2006/table">
            <a:tbl>
              <a:tblPr firstRow="1" bandRow="1">
                <a:tableStyleId>{5C22544A-7EE6-4342-B048-85BDC9FD1C3A}</a:tableStyleId>
              </a:tblPr>
              <a:tblGrid>
                <a:gridCol w="724469">
                  <a:extLst>
                    <a:ext uri="{9D8B030D-6E8A-4147-A177-3AD203B41FA5}">
                      <a16:colId xmlns:a16="http://schemas.microsoft.com/office/drawing/2014/main" val="20000"/>
                    </a:ext>
                  </a:extLst>
                </a:gridCol>
                <a:gridCol w="1308618">
                  <a:extLst>
                    <a:ext uri="{9D8B030D-6E8A-4147-A177-3AD203B41FA5}">
                      <a16:colId xmlns:a16="http://schemas.microsoft.com/office/drawing/2014/main" val="20001"/>
                    </a:ext>
                  </a:extLst>
                </a:gridCol>
                <a:gridCol w="1650819">
                  <a:extLst>
                    <a:ext uri="{9D8B030D-6E8A-4147-A177-3AD203B41FA5}">
                      <a16:colId xmlns:a16="http://schemas.microsoft.com/office/drawing/2014/main" val="20002"/>
                    </a:ext>
                  </a:extLst>
                </a:gridCol>
                <a:gridCol w="1650819">
                  <a:extLst>
                    <a:ext uri="{9D8B030D-6E8A-4147-A177-3AD203B41FA5}">
                      <a16:colId xmlns:a16="http://schemas.microsoft.com/office/drawing/2014/main" val="20003"/>
                    </a:ext>
                  </a:extLst>
                </a:gridCol>
                <a:gridCol w="1650819">
                  <a:extLst>
                    <a:ext uri="{9D8B030D-6E8A-4147-A177-3AD203B41FA5}">
                      <a16:colId xmlns:a16="http://schemas.microsoft.com/office/drawing/2014/main" val="20004"/>
                    </a:ext>
                  </a:extLst>
                </a:gridCol>
                <a:gridCol w="1650819">
                  <a:extLst>
                    <a:ext uri="{9D8B030D-6E8A-4147-A177-3AD203B41FA5}">
                      <a16:colId xmlns:a16="http://schemas.microsoft.com/office/drawing/2014/main" val="20005"/>
                    </a:ext>
                  </a:extLst>
                </a:gridCol>
                <a:gridCol w="1650819">
                  <a:extLst>
                    <a:ext uri="{9D8B030D-6E8A-4147-A177-3AD203B41FA5}">
                      <a16:colId xmlns:a16="http://schemas.microsoft.com/office/drawing/2014/main" val="20006"/>
                    </a:ext>
                  </a:extLst>
                </a:gridCol>
                <a:gridCol w="1650819">
                  <a:extLst>
                    <a:ext uri="{9D8B030D-6E8A-4147-A177-3AD203B41FA5}">
                      <a16:colId xmlns:a16="http://schemas.microsoft.com/office/drawing/2014/main" val="20007"/>
                    </a:ext>
                  </a:extLst>
                </a:gridCol>
              </a:tblGrid>
              <a:tr h="5872480">
                <a:tc>
                  <a:txBody>
                    <a:bodyPr/>
                    <a:lstStyle/>
                    <a:p>
                      <a:r>
                        <a:rPr lang="en-US" b="0" dirty="0">
                          <a:solidFill>
                            <a:schemeClr val="tx1"/>
                          </a:solidFill>
                        </a:rPr>
                        <a:t>2</a:t>
                      </a:r>
                      <a:endParaRPr lang="en-IN" b="0" dirty="0">
                        <a:solidFill>
                          <a:schemeClr val="tx1"/>
                        </a:solidFill>
                      </a:endParaRPr>
                    </a:p>
                  </a:txBody>
                  <a:tcPr>
                    <a:solidFill>
                      <a:schemeClr val="accent1">
                        <a:lumMod val="60000"/>
                        <a:lumOff val="40000"/>
                      </a:schemeClr>
                    </a:solidFill>
                  </a:tcPr>
                </a:tc>
                <a:tc>
                  <a:txBody>
                    <a:bodyPr/>
                    <a:lstStyle/>
                    <a:p>
                      <a:r>
                        <a:rPr lang="en-US" b="0" dirty="0">
                          <a:solidFill>
                            <a:schemeClr val="tx1"/>
                          </a:solidFill>
                        </a:rPr>
                        <a:t>Advanced Natural Language Processing with TensorFlow</a:t>
                      </a:r>
                      <a:endParaRPr lang="en-IN" b="0" dirty="0">
                        <a:solidFill>
                          <a:schemeClr val="tx1"/>
                        </a:solidFill>
                      </a:endParaRPr>
                    </a:p>
                  </a:txBody>
                  <a:tcPr>
                    <a:solidFill>
                      <a:schemeClr val="accent1">
                        <a:lumMod val="60000"/>
                        <a:lumOff val="40000"/>
                      </a:schemeClr>
                    </a:solidFill>
                  </a:tcPr>
                </a:tc>
                <a:tc>
                  <a:txBody>
                    <a:bodyPr/>
                    <a:lstStyle/>
                    <a:p>
                      <a:r>
                        <a:rPr lang="en-US" b="0" dirty="0">
                          <a:solidFill>
                            <a:schemeClr val="tx1"/>
                          </a:solidFill>
                        </a:rPr>
                        <a:t>Institute of Electrical and Electronics Engineers(IEEE)</a:t>
                      </a:r>
                      <a:endParaRPr lang="en-IN" b="0" dirty="0">
                        <a:solidFill>
                          <a:schemeClr val="tx1"/>
                        </a:solidFill>
                      </a:endParaRPr>
                    </a:p>
                  </a:txBody>
                  <a:tcPr>
                    <a:solidFill>
                      <a:schemeClr val="accent1">
                        <a:lumMod val="60000"/>
                        <a:lumOff val="40000"/>
                      </a:schemeClr>
                    </a:solidFill>
                  </a:tcPr>
                </a:tc>
                <a:tc>
                  <a:txBody>
                    <a:bodyPr/>
                    <a:lstStyle/>
                    <a:p>
                      <a:r>
                        <a:rPr lang="en-IN" b="0" dirty="0">
                          <a:solidFill>
                            <a:schemeClr val="tx1"/>
                          </a:solidFill>
                        </a:rPr>
                        <a:t>https://ieeexplore.ieee.org/document/10163516</a:t>
                      </a:r>
                    </a:p>
                  </a:txBody>
                  <a:tcPr>
                    <a:solidFill>
                      <a:schemeClr val="accent1">
                        <a:lumMod val="60000"/>
                        <a:lumOff val="40000"/>
                      </a:schemeClr>
                    </a:solidFill>
                  </a:tcPr>
                </a:tc>
                <a:tc>
                  <a:txBody>
                    <a:bodyPr/>
                    <a:lstStyle/>
                    <a:p>
                      <a:r>
                        <a:rPr lang="en-US" b="0" dirty="0">
                          <a:solidFill>
                            <a:schemeClr val="tx1"/>
                          </a:solidFill>
                        </a:rPr>
                        <a:t>One-stop solution for NLP practitioners, ML developers, and data scientists to build effective NLP systems that can perform real-world complicated tasks</a:t>
                      </a:r>
                      <a:endParaRPr lang="en-IN" b="0" dirty="0">
                        <a:solidFill>
                          <a:schemeClr val="tx1"/>
                        </a:solidFill>
                      </a:endParaRPr>
                    </a:p>
                  </a:txBody>
                  <a:tcPr>
                    <a:solidFill>
                      <a:schemeClr val="accent1">
                        <a:lumMod val="60000"/>
                        <a:lumOff val="40000"/>
                      </a:schemeClr>
                    </a:solidFill>
                  </a:tcPr>
                </a:tc>
                <a:tc>
                  <a:txBody>
                    <a:bodyPr/>
                    <a:lstStyle/>
                    <a:p>
                      <a:r>
                        <a:rPr lang="en-US" b="0" dirty="0">
                          <a:solidFill>
                            <a:schemeClr val="tx1"/>
                          </a:solidFill>
                        </a:rPr>
                        <a:t>This book comes with a perfect blend of both the theoretical and practical aspects of trending and complex NLP techniques</a:t>
                      </a:r>
                      <a:endParaRPr lang="en-IN" b="0" dirty="0">
                        <a:solidFill>
                          <a:schemeClr val="tx1"/>
                        </a:solidFill>
                      </a:endParaRPr>
                    </a:p>
                  </a:txBody>
                  <a:tcPr>
                    <a:solidFill>
                      <a:schemeClr val="accent1">
                        <a:lumMod val="60000"/>
                        <a:lumOff val="40000"/>
                      </a:schemeClr>
                    </a:solidFill>
                  </a:tcPr>
                </a:tc>
                <a:tc>
                  <a:txBody>
                    <a:bodyPr/>
                    <a:lstStyle/>
                    <a:p>
                      <a:r>
                        <a:rPr lang="en-US" b="0" dirty="0">
                          <a:solidFill>
                            <a:schemeClr val="tx1"/>
                          </a:solidFill>
                        </a:rPr>
                        <a:t>you will have an advanced knowledge of the tools, techniques and deep learning architecture used to solve complex NLP problems.</a:t>
                      </a:r>
                      <a:endParaRPr lang="en-IN" b="0" dirty="0">
                        <a:solidFill>
                          <a:schemeClr val="tx1"/>
                        </a:solidFill>
                      </a:endParaRPr>
                    </a:p>
                  </a:txBody>
                  <a:tcPr>
                    <a:solidFill>
                      <a:schemeClr val="accent1">
                        <a:lumMod val="60000"/>
                        <a:lumOff val="40000"/>
                      </a:schemeClr>
                    </a:solidFill>
                  </a:tcPr>
                </a:tc>
                <a:tc>
                  <a:txBody>
                    <a:bodyPr/>
                    <a:lstStyle/>
                    <a:p>
                      <a:r>
                        <a:rPr lang="en-US" b="0" dirty="0">
                          <a:solidFill>
                            <a:schemeClr val="tx1"/>
                          </a:solidFill>
                        </a:rPr>
                        <a:t>One-stop solution for NLP practitioners, ML developers, and data scientists to build effective NLP systems that can perform real-world complicated tasks</a:t>
                      </a:r>
                      <a:endParaRPr lang="en-IN" b="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Dept.of CSE- AIML &amp; IOT                                                                     VNR VJIET</a:t>
            </a:r>
          </a:p>
        </p:txBody>
      </p:sp>
      <p:graphicFrame>
        <p:nvGraphicFramePr>
          <p:cNvPr id="3" name="Table 2"/>
          <p:cNvGraphicFramePr>
            <a:graphicFrameLocks noGrp="1"/>
          </p:cNvGraphicFramePr>
          <p:nvPr>
            <p:extLst>
              <p:ext uri="{D42A27DB-BD31-4B8C-83A1-F6EECF244321}">
                <p14:modId xmlns:p14="http://schemas.microsoft.com/office/powerpoint/2010/main" val="592539122"/>
              </p:ext>
            </p:extLst>
          </p:nvPr>
        </p:nvGraphicFramePr>
        <p:xfrm>
          <a:off x="0" y="-91440"/>
          <a:ext cx="12192002" cy="6812922"/>
        </p:xfrm>
        <a:graphic>
          <a:graphicData uri="http://schemas.openxmlformats.org/drawingml/2006/table">
            <a:tbl>
              <a:tblPr firstRow="1" bandRow="1">
                <a:tableStyleId>{5C22544A-7EE6-4342-B048-85BDC9FD1C3A}</a:tableStyleId>
              </a:tblPr>
              <a:tblGrid>
                <a:gridCol w="317241">
                  <a:extLst>
                    <a:ext uri="{9D8B030D-6E8A-4147-A177-3AD203B41FA5}">
                      <a16:colId xmlns:a16="http://schemas.microsoft.com/office/drawing/2014/main" val="20000"/>
                    </a:ext>
                  </a:extLst>
                </a:gridCol>
                <a:gridCol w="1138335">
                  <a:extLst>
                    <a:ext uri="{9D8B030D-6E8A-4147-A177-3AD203B41FA5}">
                      <a16:colId xmlns:a16="http://schemas.microsoft.com/office/drawing/2014/main" val="20001"/>
                    </a:ext>
                  </a:extLst>
                </a:gridCol>
                <a:gridCol w="1250302">
                  <a:extLst>
                    <a:ext uri="{9D8B030D-6E8A-4147-A177-3AD203B41FA5}">
                      <a16:colId xmlns:a16="http://schemas.microsoft.com/office/drawing/2014/main" val="20002"/>
                    </a:ext>
                  </a:extLst>
                </a:gridCol>
                <a:gridCol w="755779">
                  <a:extLst>
                    <a:ext uri="{9D8B030D-6E8A-4147-A177-3AD203B41FA5}">
                      <a16:colId xmlns:a16="http://schemas.microsoft.com/office/drawing/2014/main" val="20003"/>
                    </a:ext>
                  </a:extLst>
                </a:gridCol>
                <a:gridCol w="2258008">
                  <a:extLst>
                    <a:ext uri="{9D8B030D-6E8A-4147-A177-3AD203B41FA5}">
                      <a16:colId xmlns:a16="http://schemas.microsoft.com/office/drawing/2014/main" val="20004"/>
                    </a:ext>
                  </a:extLst>
                </a:gridCol>
                <a:gridCol w="1968759">
                  <a:extLst>
                    <a:ext uri="{9D8B030D-6E8A-4147-A177-3AD203B41FA5}">
                      <a16:colId xmlns:a16="http://schemas.microsoft.com/office/drawing/2014/main" val="20005"/>
                    </a:ext>
                  </a:extLst>
                </a:gridCol>
                <a:gridCol w="2360645">
                  <a:extLst>
                    <a:ext uri="{9D8B030D-6E8A-4147-A177-3AD203B41FA5}">
                      <a16:colId xmlns:a16="http://schemas.microsoft.com/office/drawing/2014/main" val="20006"/>
                    </a:ext>
                  </a:extLst>
                </a:gridCol>
                <a:gridCol w="2142933">
                  <a:extLst>
                    <a:ext uri="{9D8B030D-6E8A-4147-A177-3AD203B41FA5}">
                      <a16:colId xmlns:a16="http://schemas.microsoft.com/office/drawing/2014/main" val="20007"/>
                    </a:ext>
                  </a:extLst>
                </a:gridCol>
              </a:tblGrid>
              <a:tr h="6812922">
                <a:tc>
                  <a:txBody>
                    <a:bodyPr/>
                    <a:lstStyle/>
                    <a:p>
                      <a:r>
                        <a:rPr lang="en-US" b="0" dirty="0">
                          <a:solidFill>
                            <a:schemeClr val="tx1"/>
                          </a:solidFill>
                        </a:rPr>
                        <a:t>3</a:t>
                      </a:r>
                      <a:endParaRPr lang="en-IN" b="0" dirty="0">
                        <a:solidFill>
                          <a:schemeClr val="tx1"/>
                        </a:solidFill>
                      </a:endParaRPr>
                    </a:p>
                  </a:txBody>
                  <a:tcPr>
                    <a:solidFill>
                      <a:schemeClr val="accent1">
                        <a:lumMod val="60000"/>
                        <a:lumOff val="40000"/>
                      </a:schemeClr>
                    </a:solidFill>
                  </a:tcPr>
                </a:tc>
                <a:tc>
                  <a:txBody>
                    <a:bodyPr/>
                    <a:lstStyle/>
                    <a:p>
                      <a:r>
                        <a:rPr lang="en-IN" b="0" dirty="0">
                          <a:solidFill>
                            <a:schemeClr val="tx1"/>
                          </a:solidFill>
                        </a:rPr>
                        <a:t>offensive language detection</a:t>
                      </a:r>
                    </a:p>
                  </a:txBody>
                  <a:tcPr>
                    <a:solidFill>
                      <a:schemeClr val="accent1">
                        <a:lumMod val="60000"/>
                        <a:lumOff val="40000"/>
                      </a:schemeClr>
                    </a:solidFill>
                  </a:tcPr>
                </a:tc>
                <a:tc>
                  <a:txBody>
                    <a:bodyPr/>
                    <a:lstStyle/>
                    <a:p>
                      <a:r>
                        <a:rPr lang="en-IN" b="0" dirty="0">
                          <a:solidFill>
                            <a:schemeClr val="tx1"/>
                          </a:solidFill>
                        </a:rPr>
                        <a:t>Karlsruhe institute of technology</a:t>
                      </a:r>
                    </a:p>
                  </a:txBody>
                  <a:tcPr>
                    <a:solidFill>
                      <a:schemeClr val="accent1">
                        <a:lumMod val="60000"/>
                        <a:lumOff val="40000"/>
                      </a:schemeClr>
                    </a:solidFill>
                  </a:tcPr>
                </a:tc>
                <a:tc>
                  <a:txBody>
                    <a:bodyPr/>
                    <a:lstStyle/>
                    <a:p>
                      <a:r>
                        <a:rPr lang="en-IN" b="0" dirty="0">
                          <a:solidFill>
                            <a:schemeClr val="tx1"/>
                          </a:solidFill>
                        </a:rPr>
                        <a:t>https://aclanthology.org/2020.trac-1.22/</a:t>
                      </a:r>
                    </a:p>
                  </a:txBody>
                  <a:tcPr>
                    <a:solidFill>
                      <a:schemeClr val="accent1">
                        <a:lumMod val="60000"/>
                        <a:lumOff val="40000"/>
                      </a:schemeClr>
                    </a:solidFill>
                  </a:tcPr>
                </a:tc>
                <a:tc>
                  <a:txBody>
                    <a:bodyPr/>
                    <a:lstStyle/>
                    <a:p>
                      <a:r>
                        <a:rPr lang="en-US" b="0" dirty="0">
                          <a:solidFill>
                            <a:schemeClr val="tx1"/>
                          </a:solidFill>
                        </a:rPr>
                        <a:t>The passage addresses the gap between the high accuracy of machine learning models and the preference for human moderators due to their explanatory capabilities. By evaluating various explanation methods, the research aims to improve the transparency of machine learning models in content moderation, thereby enhancing user trust and operational efficiency on online discussion platforms.</a:t>
                      </a:r>
                      <a:endParaRPr lang="en-IN" b="0" dirty="0">
                        <a:solidFill>
                          <a:schemeClr val="tx1"/>
                        </a:solidFill>
                      </a:endParaRPr>
                    </a:p>
                  </a:txBody>
                  <a:tcPr>
                    <a:solidFill>
                      <a:schemeClr val="accent1">
                        <a:lumMod val="60000"/>
                        <a:lumOff val="40000"/>
                      </a:schemeClr>
                    </a:solidFill>
                  </a:tcPr>
                </a:tc>
                <a:tc>
                  <a:txBody>
                    <a:bodyPr/>
                    <a:lstStyle/>
                    <a:p>
                      <a:r>
                        <a:rPr lang="en-US" b="0" dirty="0">
                          <a:solidFill>
                            <a:schemeClr val="tx1"/>
                          </a:solidFill>
                        </a:rPr>
                        <a:t>The objective of the paper is to contribute to the advancement of automated content moderation systems by enhancing the transparency and interpretability of machine learning models. This is crucial for ensuring that automated decisions align closely with human moderators' reasoning, thereby improving user trust and platform governance.</a:t>
                      </a:r>
                      <a:endParaRPr lang="en-IN" b="0" dirty="0">
                        <a:solidFill>
                          <a:schemeClr val="tx1"/>
                        </a:solidFill>
                      </a:endParaRPr>
                    </a:p>
                  </a:txBody>
                  <a:tcPr>
                    <a:solidFill>
                      <a:schemeClr val="accent1">
                        <a:lumMod val="60000"/>
                        <a:lumOff val="40000"/>
                      </a:schemeClr>
                    </a:solidFill>
                  </a:tcPr>
                </a:tc>
                <a:tc>
                  <a:txBody>
                    <a:bodyPr/>
                    <a:lstStyle/>
                    <a:p>
                      <a:r>
                        <a:rPr lang="en-US" b="0" dirty="0">
                          <a:solidFill>
                            <a:schemeClr val="tx1"/>
                          </a:solidFill>
                        </a:rPr>
                        <a:t>The paper aims to contribute to the development of more effective and transparent automated content moderation systems for online platforms. By improving the explanatory capabilities of machine learning models, it seeks to address the limitations of black-box models and enhance user trust in platform governance.</a:t>
                      </a:r>
                      <a:endParaRPr lang="en-IN" b="0" dirty="0">
                        <a:solidFill>
                          <a:schemeClr val="tx1"/>
                        </a:solidFill>
                      </a:endParaRPr>
                    </a:p>
                  </a:txBody>
                  <a:tcPr>
                    <a:solidFill>
                      <a:schemeClr val="accent1">
                        <a:lumMod val="60000"/>
                        <a:lumOff val="40000"/>
                      </a:schemeClr>
                    </a:solidFill>
                  </a:tcPr>
                </a:tc>
                <a:tc>
                  <a:txBody>
                    <a:bodyPr/>
                    <a:lstStyle/>
                    <a:p>
                      <a:r>
                        <a:rPr lang="en-US" b="0" dirty="0">
                          <a:solidFill>
                            <a:schemeClr val="tx1"/>
                          </a:solidFill>
                        </a:rPr>
                        <a:t>The paper aims to enhance the transparency and effectiveness of automated content moderation systems. By improving explanatory capabilities, it seeks to ensure that automated decisions align closely with human moderators' reasoning, thereby fostering greater trust and reliability on online platforms.</a:t>
                      </a:r>
                      <a:endParaRPr lang="en-IN" b="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a:t>Dept.of CSE- AIML &amp; IOT                                                                     VNR VJIET</a:t>
            </a:r>
          </a:p>
        </p:txBody>
      </p:sp>
      <p:graphicFrame>
        <p:nvGraphicFramePr>
          <p:cNvPr id="3" name="Table 2"/>
          <p:cNvGraphicFramePr>
            <a:graphicFrameLocks noGrp="1"/>
          </p:cNvGraphicFramePr>
          <p:nvPr>
            <p:extLst>
              <p:ext uri="{D42A27DB-BD31-4B8C-83A1-F6EECF244321}">
                <p14:modId xmlns:p14="http://schemas.microsoft.com/office/powerpoint/2010/main" val="242684521"/>
              </p:ext>
            </p:extLst>
          </p:nvPr>
        </p:nvGraphicFramePr>
        <p:xfrm>
          <a:off x="126999" y="136518"/>
          <a:ext cx="11938001" cy="6219839"/>
        </p:xfrm>
        <a:graphic>
          <a:graphicData uri="http://schemas.openxmlformats.org/drawingml/2006/table">
            <a:tbl>
              <a:tblPr firstRow="1" bandRow="1">
                <a:tableStyleId>{5C22544A-7EE6-4342-B048-85BDC9FD1C3A}</a:tableStyleId>
              </a:tblPr>
              <a:tblGrid>
                <a:gridCol w="724469">
                  <a:extLst>
                    <a:ext uri="{9D8B030D-6E8A-4147-A177-3AD203B41FA5}">
                      <a16:colId xmlns:a16="http://schemas.microsoft.com/office/drawing/2014/main" val="20000"/>
                    </a:ext>
                  </a:extLst>
                </a:gridCol>
                <a:gridCol w="1308618">
                  <a:extLst>
                    <a:ext uri="{9D8B030D-6E8A-4147-A177-3AD203B41FA5}">
                      <a16:colId xmlns:a16="http://schemas.microsoft.com/office/drawing/2014/main" val="20001"/>
                    </a:ext>
                  </a:extLst>
                </a:gridCol>
                <a:gridCol w="1650819">
                  <a:extLst>
                    <a:ext uri="{9D8B030D-6E8A-4147-A177-3AD203B41FA5}">
                      <a16:colId xmlns:a16="http://schemas.microsoft.com/office/drawing/2014/main" val="20002"/>
                    </a:ext>
                  </a:extLst>
                </a:gridCol>
                <a:gridCol w="1650819">
                  <a:extLst>
                    <a:ext uri="{9D8B030D-6E8A-4147-A177-3AD203B41FA5}">
                      <a16:colId xmlns:a16="http://schemas.microsoft.com/office/drawing/2014/main" val="20003"/>
                    </a:ext>
                  </a:extLst>
                </a:gridCol>
                <a:gridCol w="1650819">
                  <a:extLst>
                    <a:ext uri="{9D8B030D-6E8A-4147-A177-3AD203B41FA5}">
                      <a16:colId xmlns:a16="http://schemas.microsoft.com/office/drawing/2014/main" val="20004"/>
                    </a:ext>
                  </a:extLst>
                </a:gridCol>
                <a:gridCol w="1650819">
                  <a:extLst>
                    <a:ext uri="{9D8B030D-6E8A-4147-A177-3AD203B41FA5}">
                      <a16:colId xmlns:a16="http://schemas.microsoft.com/office/drawing/2014/main" val="20005"/>
                    </a:ext>
                  </a:extLst>
                </a:gridCol>
                <a:gridCol w="1650819">
                  <a:extLst>
                    <a:ext uri="{9D8B030D-6E8A-4147-A177-3AD203B41FA5}">
                      <a16:colId xmlns:a16="http://schemas.microsoft.com/office/drawing/2014/main" val="20006"/>
                    </a:ext>
                  </a:extLst>
                </a:gridCol>
                <a:gridCol w="1650819">
                  <a:extLst>
                    <a:ext uri="{9D8B030D-6E8A-4147-A177-3AD203B41FA5}">
                      <a16:colId xmlns:a16="http://schemas.microsoft.com/office/drawing/2014/main" val="20007"/>
                    </a:ext>
                  </a:extLst>
                </a:gridCol>
              </a:tblGrid>
              <a:tr h="6219839">
                <a:tc>
                  <a:txBody>
                    <a:bodyPr/>
                    <a:lstStyle/>
                    <a:p>
                      <a:r>
                        <a:rPr lang="en-US" dirty="0">
                          <a:solidFill>
                            <a:schemeClr val="tx1"/>
                          </a:solidFill>
                        </a:rPr>
                        <a:t>4</a:t>
                      </a:r>
                      <a:endParaRPr lang="en-IN" dirty="0">
                        <a:solidFill>
                          <a:schemeClr val="tx1"/>
                        </a:solidFill>
                      </a:endParaRPr>
                    </a:p>
                  </a:txBody>
                  <a:tcPr>
                    <a:solidFill>
                      <a:schemeClr val="accent1">
                        <a:lumMod val="60000"/>
                        <a:lumOff val="40000"/>
                      </a:schemeClr>
                    </a:solidFill>
                  </a:tcPr>
                </a:tc>
                <a:tc>
                  <a:txBody>
                    <a:bodyPr/>
                    <a:lstStyle/>
                    <a:p>
                      <a:r>
                        <a:rPr lang="en-US" dirty="0">
                          <a:solidFill>
                            <a:schemeClr val="tx1"/>
                          </a:solidFill>
                        </a:rPr>
                        <a:t>Automatic Language Identification in Texts: A Survey</a:t>
                      </a:r>
                      <a:endParaRPr lang="en-IN" dirty="0">
                        <a:solidFill>
                          <a:schemeClr val="tx1"/>
                        </a:solidFill>
                      </a:endParaRP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Journal of Artificial Intelligence Research</a:t>
                      </a:r>
                      <a:endParaRPr lang="en-IN" sz="1600" dirty="0">
                        <a:solidFill>
                          <a:schemeClr val="tx1"/>
                        </a:solidFill>
                      </a:endParaRPr>
                    </a:p>
                    <a:p>
                      <a:endParaRPr lang="en-IN" sz="1600" dirty="0">
                        <a:solidFill>
                          <a:schemeClr val="tx1"/>
                        </a:solidFill>
                      </a:endParaRPr>
                    </a:p>
                  </a:txBody>
                  <a:tcPr>
                    <a:solidFill>
                      <a:schemeClr val="accent1">
                        <a:lumMod val="60000"/>
                        <a:lumOff val="40000"/>
                      </a:schemeClr>
                    </a:solidFill>
                  </a:tcPr>
                </a:tc>
                <a:tc>
                  <a:txBody>
                    <a:bodyPr/>
                    <a:lstStyle/>
                    <a:p>
                      <a:r>
                        <a:rPr lang="en-IN">
                          <a:solidFill>
                            <a:schemeClr val="tx1"/>
                          </a:solidFill>
                        </a:rPr>
                        <a:t>https://scholar.google.com/scholar?hl=en&amp;as_sdt=0%2C5&amp;q=language+identification+models+using+nlp&amp;oq=#d=gs_qabs&amp;t=1719636649032&amp;u=%23p%3D3EgF-8zLwQIJ</a:t>
                      </a:r>
                      <a:endParaRPr lang="en-IN" dirty="0">
                        <a:solidFill>
                          <a:schemeClr val="tx1"/>
                        </a:solidFill>
                      </a:endParaRPr>
                    </a:p>
                  </a:txBody>
                  <a:tcPr>
                    <a:solidFill>
                      <a:schemeClr val="accent1">
                        <a:lumMod val="60000"/>
                        <a:lumOff val="40000"/>
                      </a:schemeClr>
                    </a:solidFill>
                  </a:tcPr>
                </a:tc>
                <a:tc>
                  <a:txBody>
                    <a:bodyPr/>
                    <a:lstStyle/>
                    <a:p>
                      <a:r>
                        <a:rPr lang="en-US" sz="1600" dirty="0">
                          <a:solidFill>
                            <a:schemeClr val="tx1"/>
                          </a:solidFill>
                        </a:rPr>
                        <a:t>The paper addresses the challenge of automatic language identification in texts, highlighting the need for more effective and accurate techniques. It identifies issues with mislabeled data and the high cost of obtaining correctly labeled datasets, which hinder research and application in this field</a:t>
                      </a:r>
                      <a:endParaRPr lang="en-IN" sz="1600" dirty="0">
                        <a:solidFill>
                          <a:schemeClr val="tx1"/>
                        </a:solidFill>
                      </a:endParaRP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The objective is to provide a comprehensive survey of features and methods used in language identification. It aims to summarize the historical development, current techniques, and potential future directions of research in this area</a:t>
                      </a:r>
                      <a:endParaRPr lang="en-IN" dirty="0">
                        <a:solidFill>
                          <a:schemeClr val="tx1"/>
                        </a:solidFill>
                      </a:endParaRPr>
                    </a:p>
                    <a:p>
                      <a:endParaRPr lang="en-IN" dirty="0"/>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The paper focuses on reviewing various approaches to language identification, including statistical methods and machine learning models. It emphasizes the importance of standardized datasets and shared tasks to advance research and ensure replicability and comparability of results.</a:t>
                      </a:r>
                      <a:endParaRPr lang="en-IN" sz="1600" dirty="0">
                        <a:solidFill>
                          <a:schemeClr val="tx1"/>
                        </a:solidFill>
                      </a:endParaRPr>
                    </a:p>
                    <a:p>
                      <a:endParaRPr lang="en-IN" dirty="0"/>
                    </a:p>
                  </a:txBody>
                  <a:tcPr>
                    <a:solidFill>
                      <a:schemeClr val="accent1">
                        <a:lumMod val="60000"/>
                        <a:lumOff val="40000"/>
                      </a:schemeClr>
                    </a:solidFill>
                  </a:tcPr>
                </a:tc>
                <a:tc>
                  <a:txBody>
                    <a:bodyPr/>
                    <a:lstStyle/>
                    <a:p>
                      <a:r>
                        <a:rPr lang="en-US" sz="1400" dirty="0">
                          <a:solidFill>
                            <a:schemeClr val="tx1"/>
                          </a:solidFill>
                        </a:rPr>
                        <a:t>Automatic Language Identification in Texts: A Survey" provides an extensive overview of the LI research field. It covers historical and current techniques, dataset challenges, and methods used in literature. The paper underscores the need for standardized datasets and discusses future research directions to enhance accuracy and reduce annotation costs.</a:t>
                      </a:r>
                      <a:endParaRPr lang="en-IN" sz="1400"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solidFill>
                  <a:schemeClr val="tx2"/>
                </a:solidFill>
                <a:latin typeface="Times New Roman" panose="02020603050405020304" pitchFamily="18" charset="0"/>
                <a:cs typeface="Times New Roman" panose="02020603050405020304" pitchFamily="18" charset="0"/>
              </a:rPr>
              <a:t>Existing System</a:t>
            </a:r>
            <a:endParaRPr lang="en-IN" sz="4000" b="1" dirty="0">
              <a:solidFill>
                <a:schemeClr val="tx2"/>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IN"/>
              <a:t>Dept.of CSE- AIML &amp; IOT                                                                     VNR VJIET</a:t>
            </a:r>
          </a:p>
        </p:txBody>
      </p:sp>
      <p:sp>
        <p:nvSpPr>
          <p:cNvPr id="6" name="Rectangle 2"/>
          <p:cNvSpPr>
            <a:spLocks noGrp="1" noChangeArrowheads="1"/>
          </p:cNvSpPr>
          <p:nvPr>
            <p:ph idx="1"/>
          </p:nvPr>
        </p:nvSpPr>
        <p:spPr bwMode="auto">
          <a:xfrm>
            <a:off x="513183" y="1243786"/>
            <a:ext cx="11165633"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Issues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00050" lvl="1" indent="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Inconsistent accuracy, especially for less common languages and dialects.</a:t>
            </a:r>
          </a:p>
          <a:p>
            <a:pPr marL="400050" lvl="1" indent="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Challenges in detecting languages with fewer linguistic resources.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Challenges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00050" lvl="1" indent="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computational demands limit real-time applicability and efficient data processing.</a:t>
            </a:r>
          </a:p>
          <a:p>
            <a:pPr marL="400050" lvl="1" indent="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Difficulty in scaling up to handle large volumes of text data.</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Language Coverage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00050" lvl="1" indent="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systems fail to accurately detect a comprehensive range of languages.</a:t>
            </a:r>
          </a:p>
          <a:p>
            <a:pPr marL="400050" lvl="1" indent="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Issues with supporting languages that have less linguistic documentation.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Technological Constraints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00050" lvl="1" indent="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Dependency on rigid linguistic rules can restrict flexibility.</a:t>
            </a:r>
          </a:p>
          <a:p>
            <a:pPr marL="400050" lvl="1" indent="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approaches like Bag of Words prioritize frequency over contextual meaning, </a:t>
            </a:r>
          </a:p>
          <a:p>
            <a:pPr marL="400050" lvl="1" indent="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impacting semantic understanding.</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B2C6569C-886B-2A06-E82F-99B8A7AD9DC3}"/>
              </a:ext>
            </a:extLst>
          </p:cNvPr>
          <p:cNvSpPr/>
          <p:nvPr/>
        </p:nvSpPr>
        <p:spPr>
          <a:xfrm>
            <a:off x="270588" y="242596"/>
            <a:ext cx="11616612" cy="588761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chemeClr val="tx2"/>
                </a:solidFill>
              </a:rPr>
              <a:t>Research Gap Identified</a:t>
            </a:r>
            <a:endParaRPr lang="en-IN" sz="4000" b="1" dirty="0">
              <a:solidFill>
                <a:schemeClr val="tx2"/>
              </a:solidFill>
            </a:endParaRPr>
          </a:p>
        </p:txBody>
      </p:sp>
      <p:sp>
        <p:nvSpPr>
          <p:cNvPr id="3" name="Content Placeholder 2"/>
          <p:cNvSpPr>
            <a:spLocks noGrp="1"/>
          </p:cNvSpPr>
          <p:nvPr>
            <p:ph idx="1"/>
          </p:nvPr>
        </p:nvSpPr>
        <p:spPr>
          <a:xfrm>
            <a:off x="592494" y="1254974"/>
            <a:ext cx="10972800" cy="4525963"/>
          </a:xfrm>
        </p:spPr>
        <p:txBody>
          <a:bodyPr>
            <a:normAutofit/>
          </a:bodyPr>
          <a:lstStyle/>
          <a:p>
            <a:pPr algn="just"/>
            <a:r>
              <a:rPr lang="en-US" sz="2000" dirty="0">
                <a:latin typeface="Times New Roman" panose="02020603050405020304" pitchFamily="18" charset="0"/>
                <a:cs typeface="Times New Roman" panose="02020603050405020304" pitchFamily="18" charset="0"/>
              </a:rPr>
              <a:t>One research gap in language detection models lies in the detection of code-mixed or multilingual text. Many existing language detection models are designed to work well with monolingual text or text that is predominantly in one language. However, in real-world scenarios, especially on social media platforms or in multicultural communities, people often use multiple languages within the same text, a phenomenon known as code-mixing.</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Another involves developing language detection models that are robust and accurate in identifying the languages present in code-mixed text. This requires techniques that can effectively handle the mixing of languages at various levels, such as word-level, phrase-level, or sentence-level mixing. Additionally, models need to be trained on diverse and representative datasets that include code-mixed text from different languages and language pairs.</a:t>
            </a:r>
            <a:endParaRPr lang="en-IN"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IN"/>
              <a:t>Dept.of CSE- AIML &amp; IOT                                                                     VNR VJIET</a:t>
            </a:r>
          </a:p>
        </p:txBody>
      </p:sp>
      <p:sp>
        <p:nvSpPr>
          <p:cNvPr id="5" name="Rectangle 4">
            <a:extLst>
              <a:ext uri="{FF2B5EF4-FFF2-40B4-BE49-F238E27FC236}">
                <a16:creationId xmlns:a16="http://schemas.microsoft.com/office/drawing/2014/main" id="{EF103D42-759C-C357-A5F0-5A1AD5A48B0E}"/>
              </a:ext>
            </a:extLst>
          </p:cNvPr>
          <p:cNvSpPr/>
          <p:nvPr/>
        </p:nvSpPr>
        <p:spPr>
          <a:xfrm>
            <a:off x="270588" y="242596"/>
            <a:ext cx="11616612" cy="588761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chemeClr val="tx2"/>
                </a:solidFill>
              </a:rPr>
              <a:t>Proposed System</a:t>
            </a:r>
            <a:endParaRPr lang="en-IN" sz="4000" b="1" dirty="0">
              <a:solidFill>
                <a:schemeClr val="tx2"/>
              </a:solidFill>
            </a:endParaRPr>
          </a:p>
        </p:txBody>
      </p:sp>
      <p:sp>
        <p:nvSpPr>
          <p:cNvPr id="3" name="Content Placeholder 2"/>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Our proposed system aims to develop a high-accuracy language detection model using the Natural Language Toolkit (NLTK), accurately identifying 17 languages with more accuracy. We collected diverse datasets, performed text normalization, tokenization, and feature extraction using n-grams and frequency distributions. Machine learning algorithms like Naive Bayes and SVMs were used for training. The model is designed for efficiency and scalability, suitable for real-time applications and easy integration with existing systems. It outperforms existing models in accuracy and computational efficiency. Future enhancements include supporting more languages, continuous learning, and integration with other NLP tasks.</a:t>
            </a:r>
            <a:endParaRPr lang="en-IN" sz="2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IN"/>
              <a:t>Dept.of CSE- AIML &amp; IOT                                                                     VNR VJIET</a:t>
            </a:r>
          </a:p>
        </p:txBody>
      </p:sp>
      <p:sp>
        <p:nvSpPr>
          <p:cNvPr id="5" name="Rectangle 4">
            <a:extLst>
              <a:ext uri="{FF2B5EF4-FFF2-40B4-BE49-F238E27FC236}">
                <a16:creationId xmlns:a16="http://schemas.microsoft.com/office/drawing/2014/main" id="{2E9892CD-28AC-7247-B1D9-029182D23094}"/>
              </a:ext>
            </a:extLst>
          </p:cNvPr>
          <p:cNvSpPr/>
          <p:nvPr/>
        </p:nvSpPr>
        <p:spPr>
          <a:xfrm>
            <a:off x="270588" y="242596"/>
            <a:ext cx="11616612" cy="588761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625" y="0"/>
            <a:ext cx="10972800" cy="1014761"/>
          </a:xfrm>
        </p:spPr>
        <p:txBody>
          <a:bodyPr>
            <a:normAutofit/>
          </a:bodyPr>
          <a:lstStyle/>
          <a:p>
            <a:r>
              <a:rPr lang="en-US" sz="4000" b="1" dirty="0">
                <a:solidFill>
                  <a:schemeClr val="tx2"/>
                </a:solidFill>
              </a:rPr>
              <a:t>Technical Specifications</a:t>
            </a:r>
            <a:endParaRPr lang="en-IN" sz="4000" b="1" dirty="0">
              <a:solidFill>
                <a:schemeClr val="tx2"/>
              </a:solidFill>
            </a:endParaRPr>
          </a:p>
        </p:txBody>
      </p:sp>
      <p:sp>
        <p:nvSpPr>
          <p:cNvPr id="3" name="Content Placeholder 2"/>
          <p:cNvSpPr>
            <a:spLocks noGrp="1"/>
          </p:cNvSpPr>
          <p:nvPr>
            <p:ph idx="1"/>
          </p:nvPr>
        </p:nvSpPr>
        <p:spPr>
          <a:xfrm>
            <a:off x="609600" y="925551"/>
            <a:ext cx="4709532" cy="5062653"/>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Libraries and Packages</a:t>
            </a:r>
            <a:r>
              <a:rPr lang="en-IN" sz="1800" dirty="0">
                <a:latin typeface="Times New Roman" panose="02020603050405020304" pitchFamily="18" charset="0"/>
                <a:cs typeface="Times New Roman" panose="02020603050405020304" pitchFamily="18" charset="0"/>
              </a:rPr>
              <a:t>:</a:t>
            </a:r>
          </a:p>
          <a:p>
            <a:r>
              <a:rPr lang="en-IN" sz="1800" b="1" dirty="0">
                <a:latin typeface="Times New Roman" panose="02020603050405020304" pitchFamily="18" charset="0"/>
                <a:cs typeface="Times New Roman" panose="02020603050405020304" pitchFamily="18" charset="0"/>
              </a:rPr>
              <a:t>NumPy</a:t>
            </a:r>
            <a:r>
              <a:rPr lang="en-IN" sz="1800" dirty="0">
                <a:latin typeface="Times New Roman" panose="02020603050405020304" pitchFamily="18" charset="0"/>
                <a:cs typeface="Times New Roman" panose="02020603050405020304" pitchFamily="18" charset="0"/>
              </a:rPr>
              <a:t>: For numerical computations and array handling.</a:t>
            </a:r>
          </a:p>
          <a:p>
            <a:r>
              <a:rPr lang="en-IN" sz="1800" b="1" dirty="0">
                <a:latin typeface="Times New Roman" panose="02020603050405020304" pitchFamily="18" charset="0"/>
                <a:cs typeface="Times New Roman" panose="02020603050405020304" pitchFamily="18" charset="0"/>
              </a:rPr>
              <a:t>Pandas</a:t>
            </a:r>
            <a:r>
              <a:rPr lang="en-IN" sz="1800" dirty="0">
                <a:latin typeface="Times New Roman" panose="02020603050405020304" pitchFamily="18" charset="0"/>
                <a:cs typeface="Times New Roman" panose="02020603050405020304" pitchFamily="18" charset="0"/>
              </a:rPr>
              <a:t>: For data manipulation and handling the dataset.</a:t>
            </a:r>
          </a:p>
          <a:p>
            <a:r>
              <a:rPr lang="en-IN" sz="1800" b="1" dirty="0">
                <a:latin typeface="Times New Roman" panose="02020603050405020304" pitchFamily="18" charset="0"/>
                <a:cs typeface="Times New Roman" panose="02020603050405020304" pitchFamily="18" charset="0"/>
              </a:rPr>
              <a:t>Scikit-learn</a:t>
            </a:r>
            <a:r>
              <a:rPr lang="en-IN" sz="1800" dirty="0">
                <a:latin typeface="Times New Roman" panose="02020603050405020304" pitchFamily="18" charset="0"/>
                <a:cs typeface="Times New Roman" panose="02020603050405020304" pitchFamily="18" charset="0"/>
              </a:rPr>
              <a:t>: For machine learning tasks, including:</a:t>
            </a:r>
          </a:p>
          <a:p>
            <a:pPr marL="457200" lvl="1" indent="0">
              <a:buNone/>
            </a:pPr>
            <a:r>
              <a:rPr lang="en-IN" sz="1800" dirty="0" err="1">
                <a:latin typeface="Times New Roman" panose="02020603050405020304" pitchFamily="18" charset="0"/>
                <a:cs typeface="Times New Roman" panose="02020603050405020304" pitchFamily="18" charset="0"/>
              </a:rPr>
              <a:t>LabelEncoder</a:t>
            </a:r>
            <a:r>
              <a:rPr lang="en-IN" sz="1800" dirty="0">
                <a:latin typeface="Times New Roman" panose="02020603050405020304" pitchFamily="18" charset="0"/>
                <a:cs typeface="Times New Roman" panose="02020603050405020304" pitchFamily="18" charset="0"/>
              </a:rPr>
              <a:t>: For encoding categorical language labels.</a:t>
            </a:r>
          </a:p>
          <a:p>
            <a:pPr marL="457200" lvl="1" indent="0">
              <a:buNone/>
            </a:pPr>
            <a:r>
              <a:rPr lang="en-IN" sz="1800" dirty="0" err="1">
                <a:latin typeface="Times New Roman" panose="02020603050405020304" pitchFamily="18" charset="0"/>
                <a:cs typeface="Times New Roman" panose="02020603050405020304" pitchFamily="18" charset="0"/>
              </a:rPr>
              <a:t>CountVectorizer</a:t>
            </a:r>
            <a:r>
              <a:rPr lang="en-IN" sz="1800" dirty="0">
                <a:latin typeface="Times New Roman" panose="02020603050405020304" pitchFamily="18" charset="0"/>
                <a:cs typeface="Times New Roman" panose="02020603050405020304" pitchFamily="18" charset="0"/>
              </a:rPr>
              <a:t>: For converting text data into numerical feature vectors.</a:t>
            </a:r>
          </a:p>
          <a:p>
            <a:pPr marL="457200" lvl="1" indent="0">
              <a:buNone/>
            </a:pPr>
            <a:r>
              <a:rPr lang="en-IN" sz="1800" dirty="0" err="1">
                <a:latin typeface="Times New Roman" panose="02020603050405020304" pitchFamily="18" charset="0"/>
                <a:cs typeface="Times New Roman" panose="02020603050405020304" pitchFamily="18" charset="0"/>
              </a:rPr>
              <a:t>LogisticRegression</a:t>
            </a:r>
            <a:r>
              <a:rPr lang="en-IN" sz="1800" dirty="0">
                <a:latin typeface="Times New Roman" panose="02020603050405020304" pitchFamily="18" charset="0"/>
                <a:cs typeface="Times New Roman" panose="02020603050405020304" pitchFamily="18" charset="0"/>
              </a:rPr>
              <a:t>: Used as the machine learning model.</a:t>
            </a:r>
          </a:p>
          <a:p>
            <a:pPr marL="457200" lvl="1" indent="0">
              <a:buNone/>
            </a:pPr>
            <a:r>
              <a:rPr lang="en-IN" sz="1800" dirty="0" err="1">
                <a:latin typeface="Times New Roman" panose="02020603050405020304" pitchFamily="18" charset="0"/>
                <a:cs typeface="Times New Roman" panose="02020603050405020304" pitchFamily="18" charset="0"/>
              </a:rPr>
              <a:t>train_test_split</a:t>
            </a:r>
            <a:r>
              <a:rPr lang="en-IN" sz="1800" dirty="0">
                <a:latin typeface="Times New Roman" panose="02020603050405020304" pitchFamily="18" charset="0"/>
                <a:cs typeface="Times New Roman" panose="02020603050405020304" pitchFamily="18" charset="0"/>
              </a:rPr>
              <a:t>: For splitting data into training and testing sets.</a:t>
            </a:r>
          </a:p>
          <a:p>
            <a:pPr marL="457200" lvl="1" indent="0">
              <a:buNone/>
            </a:pPr>
            <a:r>
              <a:rPr lang="en-IN" sz="1800" dirty="0">
                <a:latin typeface="Times New Roman" panose="02020603050405020304" pitchFamily="18" charset="0"/>
                <a:cs typeface="Times New Roman" panose="02020603050405020304" pitchFamily="18" charset="0"/>
              </a:rPr>
              <a:t>f1_score: Metric used to evaluate model performance.</a:t>
            </a:r>
          </a:p>
          <a:p>
            <a:pPr marL="0" indent="0">
              <a:buNone/>
            </a:pPr>
            <a:endParaRPr lang="en-US" sz="1800" dirty="0">
              <a:latin typeface="Times New Roman" panose="02020603050405020304" pitchFamily="18" charset="0"/>
              <a:cs typeface="Times New Roman" panose="02020603050405020304" pitchFamily="18" charset="0"/>
            </a:endParaRPr>
          </a:p>
          <a:p>
            <a:pPr marL="457200" lvl="1" indent="0">
              <a:buNone/>
            </a:pPr>
            <a:endParaRPr lang="en-IN" sz="18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IN" dirty="0" err="1"/>
              <a:t>Dept.of</a:t>
            </a:r>
            <a:r>
              <a:rPr lang="en-IN" dirty="0"/>
              <a:t> CSE- AIML &amp; IOT                                                                     VNR VJIET</a:t>
            </a:r>
          </a:p>
        </p:txBody>
      </p:sp>
      <p:sp>
        <p:nvSpPr>
          <p:cNvPr id="5" name="Rectangle 4">
            <a:extLst>
              <a:ext uri="{FF2B5EF4-FFF2-40B4-BE49-F238E27FC236}">
                <a16:creationId xmlns:a16="http://schemas.microsoft.com/office/drawing/2014/main" id="{CD1BDB22-2482-CBD6-9194-5ADB40BFCDD8}"/>
              </a:ext>
            </a:extLst>
          </p:cNvPr>
          <p:cNvSpPr/>
          <p:nvPr/>
        </p:nvSpPr>
        <p:spPr>
          <a:xfrm>
            <a:off x="270588" y="242596"/>
            <a:ext cx="11616612" cy="588761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3D3E829A-3231-D121-E898-158485F8BA8C}"/>
              </a:ext>
            </a:extLst>
          </p:cNvPr>
          <p:cNvSpPr txBox="1"/>
          <p:nvPr/>
        </p:nvSpPr>
        <p:spPr>
          <a:xfrm>
            <a:off x="5480786" y="961964"/>
            <a:ext cx="6244760" cy="6463308"/>
          </a:xfrm>
          <a:prstGeom prst="rect">
            <a:avLst/>
          </a:prstGeom>
          <a:noFill/>
        </p:spPr>
        <p:txBody>
          <a:bodyPr wrap="square" rtlCol="0">
            <a:spAutoFit/>
          </a:bodyPr>
          <a:lstStyle/>
          <a:p>
            <a:r>
              <a:rPr lang="en-US" sz="1800" b="1" dirty="0">
                <a:latin typeface="Times New Roman" panose="02020603050405020304" pitchFamily="18" charset="0"/>
                <a:cs typeface="Times New Roman" panose="02020603050405020304" pitchFamily="18" charset="0"/>
              </a:rPr>
              <a:t>NLTK (Natural Language Toolkit)</a:t>
            </a:r>
            <a:r>
              <a:rPr lang="en-US" sz="1800" dirty="0">
                <a:latin typeface="Times New Roman" panose="02020603050405020304" pitchFamily="18" charset="0"/>
                <a:cs typeface="Times New Roman" panose="02020603050405020304" pitchFamily="18" charset="0"/>
              </a:rPr>
              <a:t>:</a:t>
            </a:r>
          </a:p>
          <a:p>
            <a:pPr lvl="1"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Used for text preprocessing tasks, such as tokenization, </a:t>
            </a:r>
            <a:r>
              <a:rPr lang="en-US" dirty="0" err="1">
                <a:latin typeface="Times New Roman" panose="02020603050405020304" pitchFamily="18" charset="0"/>
                <a:cs typeface="Times New Roman" panose="02020603050405020304" pitchFamily="18" charset="0"/>
              </a:rPr>
              <a:t>stopword</a:t>
            </a:r>
            <a:r>
              <a:rPr lang="en-US" dirty="0">
                <a:latin typeface="Times New Roman" panose="02020603050405020304" pitchFamily="18" charset="0"/>
                <a:cs typeface="Times New Roman" panose="02020603050405020304" pitchFamily="18" charset="0"/>
              </a:rPr>
              <a:t> removal, and lemmatization, which help normalize and clean the text data</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Data handling and preprocessing:</a:t>
            </a:r>
          </a:p>
          <a:p>
            <a:pPr lvl="1" eaLnBrk="0" fontAlgn="base" hangingPunct="0">
              <a:spcBef>
                <a:spcPct val="0"/>
              </a:spcBef>
              <a:spcAft>
                <a:spcPct val="0"/>
              </a:spcAft>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Loading: Loads dataset from a CSV file.</a:t>
            </a:r>
          </a:p>
          <a:p>
            <a:pPr lvl="1" eaLnBrk="0" fontAlgn="base" hangingPunct="0">
              <a:spcBef>
                <a:spcPct val="0"/>
              </a:spcBef>
              <a:spcAft>
                <a:spcPct val="0"/>
              </a:spcAft>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Preprocessing: Uses regular expressions for text cleaning and normalization.</a:t>
            </a:r>
          </a:p>
          <a:p>
            <a:pPr lvl="1" eaLnBrk="0" fontAlgn="base" hangingPunct="0">
              <a:spcBef>
                <a:spcPct val="0"/>
              </a:spcBef>
              <a:spcAft>
                <a:spcPct val="0"/>
              </a:spcAft>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 Converts cleaned text data into numerical features using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CountVectorizer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Training and Evaluation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lvl="1" eaLnBrk="0" fontAlgn="base" hangingPunct="0">
              <a:spcBef>
                <a:spcPct val="0"/>
              </a:spcBef>
              <a:spcAft>
                <a:spcPct val="0"/>
              </a:spcAft>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Logistic Regression trained on vectorized text data.</a:t>
            </a:r>
          </a:p>
          <a:p>
            <a:pPr lvl="1" eaLnBrk="0" fontAlgn="base" hangingPunct="0">
              <a:spcBef>
                <a:spcPct val="0"/>
              </a:spcBef>
              <a:spcAft>
                <a:spcPct val="0"/>
              </a:spcAft>
              <a:buFontTx/>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Metric: F1 score to assess model accuracy.</a:t>
            </a:r>
          </a:p>
          <a:p>
            <a:r>
              <a:rPr lang="en-US" b="1"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Matplotlib and Seaborn for visualizing language distribution.</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DAD4D7-BF86-B034-A205-2E8FAF22C6FE}"/>
              </a:ext>
            </a:extLst>
          </p:cNvPr>
          <p:cNvSpPr>
            <a:spLocks noGrp="1"/>
          </p:cNvSpPr>
          <p:nvPr>
            <p:ph type="ftr" sz="quarter" idx="11"/>
          </p:nvPr>
        </p:nvSpPr>
        <p:spPr/>
        <p:txBody>
          <a:bodyPr/>
          <a:lstStyle/>
          <a:p>
            <a:r>
              <a:rPr lang="en-IN"/>
              <a:t>Dept.of CSE- AIML &amp; IOT                                                                     VNR VJIET</a:t>
            </a:r>
          </a:p>
        </p:txBody>
      </p:sp>
      <p:sp>
        <p:nvSpPr>
          <p:cNvPr id="8" name="Rectangle 7">
            <a:extLst>
              <a:ext uri="{FF2B5EF4-FFF2-40B4-BE49-F238E27FC236}">
                <a16:creationId xmlns:a16="http://schemas.microsoft.com/office/drawing/2014/main" id="{F2D6839B-D3D8-C297-0651-4944DA8956CC}"/>
              </a:ext>
            </a:extLst>
          </p:cNvPr>
          <p:cNvSpPr/>
          <p:nvPr/>
        </p:nvSpPr>
        <p:spPr>
          <a:xfrm>
            <a:off x="270588" y="242596"/>
            <a:ext cx="11616612" cy="588761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4" name="Picture 13">
            <a:extLst>
              <a:ext uri="{FF2B5EF4-FFF2-40B4-BE49-F238E27FC236}">
                <a16:creationId xmlns:a16="http://schemas.microsoft.com/office/drawing/2014/main" id="{CF2D268B-319D-4763-9E9F-377CA46CCD98}"/>
              </a:ext>
            </a:extLst>
          </p:cNvPr>
          <p:cNvPicPr>
            <a:picLocks noChangeAspect="1"/>
          </p:cNvPicPr>
          <p:nvPr/>
        </p:nvPicPr>
        <p:blipFill>
          <a:blip r:embed="rId2"/>
          <a:stretch>
            <a:fillRect/>
          </a:stretch>
        </p:blipFill>
        <p:spPr>
          <a:xfrm>
            <a:off x="2647467" y="1004653"/>
            <a:ext cx="6897065" cy="5013592"/>
          </a:xfrm>
          <a:prstGeom prst="rect">
            <a:avLst/>
          </a:prstGeom>
          <a:ln>
            <a:noFill/>
          </a:ln>
          <a:effectLst>
            <a:outerShdw blurRad="190500" algn="tl" rotWithShape="0">
              <a:srgbClr val="000000">
                <a:alpha val="70000"/>
              </a:srgbClr>
            </a:outerShdw>
          </a:effectLst>
        </p:spPr>
      </p:pic>
      <p:sp>
        <p:nvSpPr>
          <p:cNvPr id="16" name="TextBox 15">
            <a:extLst>
              <a:ext uri="{FF2B5EF4-FFF2-40B4-BE49-F238E27FC236}">
                <a16:creationId xmlns:a16="http://schemas.microsoft.com/office/drawing/2014/main" id="{59CED911-A0A2-6700-BAA3-A231B5B50B84}"/>
              </a:ext>
            </a:extLst>
          </p:cNvPr>
          <p:cNvSpPr txBox="1"/>
          <p:nvPr/>
        </p:nvSpPr>
        <p:spPr>
          <a:xfrm>
            <a:off x="1763486" y="331237"/>
            <a:ext cx="8350898" cy="584775"/>
          </a:xfrm>
          <a:prstGeom prst="rect">
            <a:avLst/>
          </a:prstGeom>
          <a:noFill/>
        </p:spPr>
        <p:txBody>
          <a:bodyPr wrap="square" rtlCol="0">
            <a:spAutoFit/>
          </a:bodyPr>
          <a:lstStyle/>
          <a:p>
            <a:pPr algn="ctr"/>
            <a:r>
              <a:rPr lang="en-US" sz="3200" b="1" dirty="0">
                <a:solidFill>
                  <a:schemeClr val="tx2"/>
                </a:solidFill>
                <a:latin typeface="Times New Roman" panose="02020603050405020304" pitchFamily="18" charset="0"/>
                <a:cs typeface="Times New Roman" panose="02020603050405020304" pitchFamily="18" charset="0"/>
              </a:rPr>
              <a:t>System Architecture</a:t>
            </a:r>
            <a:endParaRPr lang="en-IN" sz="3200" b="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6510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98580"/>
            <a:ext cx="10972800" cy="444742"/>
          </a:xfrm>
        </p:spPr>
        <p:txBody>
          <a:bodyPr>
            <a:normAutofit fontScale="90000"/>
          </a:bodyPr>
          <a:lstStyle/>
          <a:p>
            <a:r>
              <a:rPr lang="en-US" b="1" dirty="0">
                <a:solidFill>
                  <a:schemeClr val="tx2">
                    <a:lumMod val="75000"/>
                  </a:schemeClr>
                </a:solidFill>
              </a:rPr>
              <a:t>UML DIAGRAMS </a:t>
            </a:r>
            <a:endParaRPr lang="en-IN" b="1" dirty="0">
              <a:solidFill>
                <a:schemeClr val="tx2">
                  <a:lumMod val="75000"/>
                </a:schemeClr>
              </a:solidFill>
            </a:endParaRPr>
          </a:p>
        </p:txBody>
      </p:sp>
      <p:sp>
        <p:nvSpPr>
          <p:cNvPr id="4" name="Footer Placeholder 3"/>
          <p:cNvSpPr>
            <a:spLocks noGrp="1"/>
          </p:cNvSpPr>
          <p:nvPr>
            <p:ph type="ftr" sz="quarter" idx="11"/>
          </p:nvPr>
        </p:nvSpPr>
        <p:spPr/>
        <p:txBody>
          <a:bodyPr/>
          <a:lstStyle/>
          <a:p>
            <a:r>
              <a:rPr lang="en-IN"/>
              <a:t>Dept.of CSE- AIML &amp; IOT                                                                     VNR VJIET</a:t>
            </a:r>
          </a:p>
        </p:txBody>
      </p:sp>
      <p:pic>
        <p:nvPicPr>
          <p:cNvPr id="7" name="Picture 6">
            <a:extLst>
              <a:ext uri="{FF2B5EF4-FFF2-40B4-BE49-F238E27FC236}">
                <a16:creationId xmlns:a16="http://schemas.microsoft.com/office/drawing/2014/main" id="{26E000CF-2621-8D07-0409-6772918F03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331" y="1504948"/>
            <a:ext cx="5784847" cy="4455361"/>
          </a:xfrm>
          <a:prstGeom prst="rect">
            <a:avLst/>
          </a:prstGeom>
        </p:spPr>
      </p:pic>
      <p:sp>
        <p:nvSpPr>
          <p:cNvPr id="8" name="TextBox 7">
            <a:extLst>
              <a:ext uri="{FF2B5EF4-FFF2-40B4-BE49-F238E27FC236}">
                <a16:creationId xmlns:a16="http://schemas.microsoft.com/office/drawing/2014/main" id="{614721A7-ECD7-8F5C-FE5E-1996C961D2F9}"/>
              </a:ext>
            </a:extLst>
          </p:cNvPr>
          <p:cNvSpPr txBox="1"/>
          <p:nvPr/>
        </p:nvSpPr>
        <p:spPr>
          <a:xfrm>
            <a:off x="1334341" y="897691"/>
            <a:ext cx="4615481" cy="584775"/>
          </a:xfrm>
          <a:prstGeom prst="rect">
            <a:avLst/>
          </a:prstGeom>
          <a:noFill/>
        </p:spPr>
        <p:txBody>
          <a:bodyPr wrap="square" rtlCol="0">
            <a:spAutoFit/>
          </a:bodyPr>
          <a:lstStyle/>
          <a:p>
            <a:pPr algn="ctr"/>
            <a:r>
              <a:rPr lang="en-US" sz="3200" dirty="0">
                <a:solidFill>
                  <a:schemeClr val="tx2"/>
                </a:solidFill>
              </a:rPr>
              <a:t>Use case </a:t>
            </a:r>
            <a:r>
              <a:rPr lang="en-IN" sz="3200" dirty="0">
                <a:solidFill>
                  <a:schemeClr val="tx2"/>
                </a:solidFill>
              </a:rPr>
              <a:t>Diagram</a:t>
            </a:r>
            <a:endParaRPr lang="en-IN" sz="3200" dirty="0"/>
          </a:p>
        </p:txBody>
      </p:sp>
      <p:pic>
        <p:nvPicPr>
          <p:cNvPr id="10" name="Picture 9">
            <a:extLst>
              <a:ext uri="{FF2B5EF4-FFF2-40B4-BE49-F238E27FC236}">
                <a16:creationId xmlns:a16="http://schemas.microsoft.com/office/drawing/2014/main" id="{82E1C22A-FF7D-8B2D-B472-0B33E00A3D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4694" y="2043556"/>
            <a:ext cx="4817706" cy="3806737"/>
          </a:xfrm>
          <a:prstGeom prst="rect">
            <a:avLst/>
          </a:prstGeom>
        </p:spPr>
      </p:pic>
      <p:sp>
        <p:nvSpPr>
          <p:cNvPr id="14" name="TextBox 13">
            <a:extLst>
              <a:ext uri="{FF2B5EF4-FFF2-40B4-BE49-F238E27FC236}">
                <a16:creationId xmlns:a16="http://schemas.microsoft.com/office/drawing/2014/main" id="{40489321-B958-8B40-F46E-1A1B1D6A51FA}"/>
              </a:ext>
            </a:extLst>
          </p:cNvPr>
          <p:cNvSpPr txBox="1"/>
          <p:nvPr/>
        </p:nvSpPr>
        <p:spPr>
          <a:xfrm>
            <a:off x="6242178" y="884142"/>
            <a:ext cx="6097554" cy="1569660"/>
          </a:xfrm>
          <a:prstGeom prst="rect">
            <a:avLst/>
          </a:prstGeom>
          <a:noFill/>
        </p:spPr>
        <p:txBody>
          <a:bodyPr wrap="square">
            <a:spAutoFit/>
          </a:bodyPr>
          <a:lstStyle/>
          <a:p>
            <a:pPr algn="ctr"/>
            <a:r>
              <a:rPr lang="en-US" sz="3200" dirty="0">
                <a:solidFill>
                  <a:schemeClr val="tx2"/>
                </a:solidFill>
              </a:rPr>
              <a:t>Class </a:t>
            </a:r>
            <a:r>
              <a:rPr lang="en-IN" sz="3200" dirty="0">
                <a:solidFill>
                  <a:schemeClr val="tx2"/>
                </a:solidFill>
              </a:rPr>
              <a:t>Diagram</a:t>
            </a:r>
          </a:p>
          <a:p>
            <a:pPr algn="ctr"/>
            <a:endParaRPr lang="en-IN" sz="3200" dirty="0">
              <a:solidFill>
                <a:schemeClr val="tx2"/>
              </a:solidFill>
            </a:endParaRPr>
          </a:p>
          <a:p>
            <a:pPr algn="ctr"/>
            <a:endParaRPr lang="en-IN" sz="3200" dirty="0">
              <a:solidFill>
                <a:schemeClr val="tx2"/>
              </a:solidFill>
            </a:endParaRPr>
          </a:p>
        </p:txBody>
      </p:sp>
      <p:sp>
        <p:nvSpPr>
          <p:cNvPr id="15" name="Rectangle 14">
            <a:extLst>
              <a:ext uri="{FF2B5EF4-FFF2-40B4-BE49-F238E27FC236}">
                <a16:creationId xmlns:a16="http://schemas.microsoft.com/office/drawing/2014/main" id="{6B502F4A-CDAE-6BEA-934D-7104E8723F73}"/>
              </a:ext>
            </a:extLst>
          </p:cNvPr>
          <p:cNvSpPr/>
          <p:nvPr/>
        </p:nvSpPr>
        <p:spPr>
          <a:xfrm>
            <a:off x="270588" y="830424"/>
            <a:ext cx="11616612" cy="5299788"/>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17" name="Straight Connector 16">
            <a:extLst>
              <a:ext uri="{FF2B5EF4-FFF2-40B4-BE49-F238E27FC236}">
                <a16:creationId xmlns:a16="http://schemas.microsoft.com/office/drawing/2014/main" id="{B0C1C2C6-7F8A-FE8D-D8AA-91CCBFCCB36E}"/>
              </a:ext>
            </a:extLst>
          </p:cNvPr>
          <p:cNvCxnSpPr>
            <a:cxnSpLocks/>
          </p:cNvCxnSpPr>
          <p:nvPr/>
        </p:nvCxnSpPr>
        <p:spPr>
          <a:xfrm>
            <a:off x="6643396" y="830424"/>
            <a:ext cx="0" cy="5299788"/>
          </a:xfrm>
          <a:prstGeom prst="line">
            <a:avLst/>
          </a:prstGeom>
          <a:ln>
            <a:solidFill>
              <a:schemeClr val="accent6">
                <a:lumMod val="75000"/>
              </a:schemeClr>
            </a:solidFill>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0E1A3A-E667-D5A9-A481-A77CD396D992}"/>
              </a:ext>
            </a:extLst>
          </p:cNvPr>
          <p:cNvSpPr>
            <a:spLocks noGrp="1"/>
          </p:cNvSpPr>
          <p:nvPr>
            <p:ph type="ftr" sz="quarter" idx="11"/>
          </p:nvPr>
        </p:nvSpPr>
        <p:spPr/>
        <p:txBody>
          <a:bodyPr/>
          <a:lstStyle/>
          <a:p>
            <a:r>
              <a:rPr lang="en-IN"/>
              <a:t>Dept.of CSE- AIML &amp; IOT                                                                     VNR VJIET</a:t>
            </a:r>
          </a:p>
        </p:txBody>
      </p:sp>
      <p:pic>
        <p:nvPicPr>
          <p:cNvPr id="4" name="Picture 3">
            <a:extLst>
              <a:ext uri="{FF2B5EF4-FFF2-40B4-BE49-F238E27FC236}">
                <a16:creationId xmlns:a16="http://schemas.microsoft.com/office/drawing/2014/main" id="{002F767A-21A8-066A-5F2E-FCB810A524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681" y="883223"/>
            <a:ext cx="10008637" cy="5473133"/>
          </a:xfrm>
          <a:prstGeom prst="rect">
            <a:avLst/>
          </a:prstGeom>
        </p:spPr>
      </p:pic>
      <p:sp>
        <p:nvSpPr>
          <p:cNvPr id="5" name="TextBox 4">
            <a:extLst>
              <a:ext uri="{FF2B5EF4-FFF2-40B4-BE49-F238E27FC236}">
                <a16:creationId xmlns:a16="http://schemas.microsoft.com/office/drawing/2014/main" id="{A802C679-0BDA-5AFE-EC52-898899BD4E84}"/>
              </a:ext>
            </a:extLst>
          </p:cNvPr>
          <p:cNvSpPr txBox="1"/>
          <p:nvPr/>
        </p:nvSpPr>
        <p:spPr>
          <a:xfrm>
            <a:off x="559836" y="207425"/>
            <a:ext cx="11392677" cy="584775"/>
          </a:xfrm>
          <a:prstGeom prst="rect">
            <a:avLst/>
          </a:prstGeom>
          <a:noFill/>
        </p:spPr>
        <p:txBody>
          <a:bodyPr wrap="square" rtlCol="0">
            <a:spAutoFit/>
          </a:bodyPr>
          <a:lstStyle/>
          <a:p>
            <a:pPr algn="ctr"/>
            <a:r>
              <a:rPr lang="en-IN" sz="3200" b="1" dirty="0">
                <a:solidFill>
                  <a:schemeClr val="tx2"/>
                </a:solidFill>
              </a:rPr>
              <a:t>Sequence Diagram</a:t>
            </a:r>
          </a:p>
        </p:txBody>
      </p:sp>
      <p:sp>
        <p:nvSpPr>
          <p:cNvPr id="6" name="Rectangle 5">
            <a:extLst>
              <a:ext uri="{FF2B5EF4-FFF2-40B4-BE49-F238E27FC236}">
                <a16:creationId xmlns:a16="http://schemas.microsoft.com/office/drawing/2014/main" id="{52205410-F942-E372-2061-16E1521D9C0E}"/>
              </a:ext>
            </a:extLst>
          </p:cNvPr>
          <p:cNvSpPr/>
          <p:nvPr/>
        </p:nvSpPr>
        <p:spPr>
          <a:xfrm>
            <a:off x="270588" y="207425"/>
            <a:ext cx="11616612" cy="614893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270040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EC8F86-A30F-0C61-080C-3EE38B42FF99}"/>
              </a:ext>
            </a:extLst>
          </p:cNvPr>
          <p:cNvSpPr>
            <a:spLocks noGrp="1"/>
          </p:cNvSpPr>
          <p:nvPr>
            <p:ph type="ftr" sz="quarter" idx="11"/>
          </p:nvPr>
        </p:nvSpPr>
        <p:spPr/>
        <p:txBody>
          <a:bodyPr/>
          <a:lstStyle/>
          <a:p>
            <a:r>
              <a:rPr lang="en-IN"/>
              <a:t>Dept.of CSE- AIML &amp; IOT                                                                     VNR VJIET</a:t>
            </a:r>
          </a:p>
        </p:txBody>
      </p:sp>
      <p:pic>
        <p:nvPicPr>
          <p:cNvPr id="4" name="Picture 3">
            <a:extLst>
              <a:ext uri="{FF2B5EF4-FFF2-40B4-BE49-F238E27FC236}">
                <a16:creationId xmlns:a16="http://schemas.microsoft.com/office/drawing/2014/main" id="{DBF721C1-6869-0A91-E5EB-CED12E37F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5600" y="872412"/>
            <a:ext cx="4383951" cy="5113176"/>
          </a:xfrm>
          <a:prstGeom prst="rect">
            <a:avLst/>
          </a:prstGeom>
        </p:spPr>
      </p:pic>
      <p:sp>
        <p:nvSpPr>
          <p:cNvPr id="5" name="Rectangle 4">
            <a:extLst>
              <a:ext uri="{FF2B5EF4-FFF2-40B4-BE49-F238E27FC236}">
                <a16:creationId xmlns:a16="http://schemas.microsoft.com/office/drawing/2014/main" id="{23C23910-A75D-93E6-CC40-2DC6CC615D59}"/>
              </a:ext>
            </a:extLst>
          </p:cNvPr>
          <p:cNvSpPr/>
          <p:nvPr/>
        </p:nvSpPr>
        <p:spPr>
          <a:xfrm>
            <a:off x="270588" y="242596"/>
            <a:ext cx="11616612" cy="588761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5A6A7ADF-21CF-D6F5-E713-9C2F8052D7EA}"/>
              </a:ext>
            </a:extLst>
          </p:cNvPr>
          <p:cNvSpPr txBox="1"/>
          <p:nvPr/>
        </p:nvSpPr>
        <p:spPr>
          <a:xfrm>
            <a:off x="2694214" y="321522"/>
            <a:ext cx="6097554" cy="584775"/>
          </a:xfrm>
          <a:prstGeom prst="rect">
            <a:avLst/>
          </a:prstGeom>
          <a:noFill/>
        </p:spPr>
        <p:txBody>
          <a:bodyPr wrap="square">
            <a:spAutoFit/>
          </a:bodyPr>
          <a:lstStyle/>
          <a:p>
            <a:pPr algn="ctr"/>
            <a:r>
              <a:rPr lang="en-IN" sz="3200" b="1" dirty="0">
                <a:solidFill>
                  <a:schemeClr val="tx2"/>
                </a:solidFill>
              </a:rPr>
              <a:t>State Diagram</a:t>
            </a:r>
          </a:p>
        </p:txBody>
      </p:sp>
    </p:spTree>
    <p:extLst>
      <p:ext uri="{BB962C8B-B14F-4D97-AF65-F5344CB8AC3E}">
        <p14:creationId xmlns:p14="http://schemas.microsoft.com/office/powerpoint/2010/main" val="987732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26523-28AA-4F3A-E688-7892AACF2E45}"/>
              </a:ext>
            </a:extLst>
          </p:cNvPr>
          <p:cNvSpPr>
            <a:spLocks noGrp="1"/>
          </p:cNvSpPr>
          <p:nvPr>
            <p:ph type="title"/>
          </p:nvPr>
        </p:nvSpPr>
        <p:spPr/>
        <p:txBody>
          <a:bodyPr>
            <a:normAutofit/>
          </a:bodyPr>
          <a:lstStyle/>
          <a:p>
            <a:r>
              <a:rPr lang="en-US" sz="3600" b="1" dirty="0">
                <a:solidFill>
                  <a:schemeClr val="tx2"/>
                </a:solidFill>
                <a:latin typeface="Times New Roman" panose="02020603050405020304" pitchFamily="18" charset="0"/>
                <a:cs typeface="Times New Roman" panose="02020603050405020304" pitchFamily="18" charset="0"/>
              </a:rPr>
              <a:t>SUMMARY</a:t>
            </a:r>
            <a:endParaRPr lang="en-IN" sz="3600" b="1"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BBBC5F-2895-0736-A8C1-B3EA659FED48}"/>
              </a:ext>
            </a:extLst>
          </p:cNvPr>
          <p:cNvSpPr>
            <a:spLocks noGrp="1"/>
          </p:cNvSpPr>
          <p:nvPr>
            <p:ph idx="1"/>
          </p:nvPr>
        </p:nvSpPr>
        <p:spPr>
          <a:xfrm>
            <a:off x="609600" y="1264304"/>
            <a:ext cx="10972800" cy="4525963"/>
          </a:xfrm>
        </p:spPr>
        <p:txBody>
          <a:bodyPr>
            <a:normAutofit fontScale="70000" lnSpcReduction="20000"/>
          </a:bodyPr>
          <a:lstStyle/>
          <a:p>
            <a:r>
              <a:rPr lang="en-US" dirty="0"/>
              <a:t>The Language Detection Model (LDM) aims to accurately identify the language of text samples, essential for applications like content management and sentiment analysis. Traditional methods often lack the necessary accuracy for modern text data complexities. This study develops a robust model that preprocesses text, standardizes input, and transforms it into a numerical format suitable for analysis.</a:t>
            </a:r>
          </a:p>
          <a:p>
            <a:r>
              <a:rPr lang="en-US" dirty="0"/>
              <a:t>The dataset is divided into training and testing sets to allow the model to learn and be evaluated effectively. Performance is measured using a balanced accuracy metric, demonstrating its effectiveness in predicting the language of new text samples. A custom function enables real-time language detection for any input text. The model is versatile and can be applied to various tasks, ensuring accurate and reliable language detection for multilingual text processing.</a:t>
            </a:r>
          </a:p>
          <a:p>
            <a:r>
              <a:rPr lang="en-US" dirty="0"/>
              <a:t>Existing systems face challenges like inconsistent accuracy for less common languages, high computational demands, limited language coverage, and dependency on rigid linguistic rules. A significant research gap lies in detecting code-mixed text, where multiple languages are used within the same text. The proposed system addresses this by using the Natural Language Toolkit (NLTK) to detect 17 languages with higher accuracy.</a:t>
            </a:r>
          </a:p>
          <a:p>
            <a:endParaRPr lang="en-IN" dirty="0"/>
          </a:p>
        </p:txBody>
      </p:sp>
      <p:sp>
        <p:nvSpPr>
          <p:cNvPr id="4" name="Footer Placeholder 3">
            <a:extLst>
              <a:ext uri="{FF2B5EF4-FFF2-40B4-BE49-F238E27FC236}">
                <a16:creationId xmlns:a16="http://schemas.microsoft.com/office/drawing/2014/main" id="{AFA95673-18E5-76E5-F756-14F88E59D178}"/>
              </a:ext>
            </a:extLst>
          </p:cNvPr>
          <p:cNvSpPr>
            <a:spLocks noGrp="1"/>
          </p:cNvSpPr>
          <p:nvPr>
            <p:ph type="ftr" sz="quarter" idx="11"/>
          </p:nvPr>
        </p:nvSpPr>
        <p:spPr/>
        <p:txBody>
          <a:bodyPr/>
          <a:lstStyle/>
          <a:p>
            <a:r>
              <a:rPr lang="en-IN"/>
              <a:t>Dept.of CSE- AIML &amp; IOT                                                                     VNR VJIET</a:t>
            </a:r>
          </a:p>
        </p:txBody>
      </p:sp>
      <p:sp>
        <p:nvSpPr>
          <p:cNvPr id="5" name="Rectangle 4">
            <a:extLst>
              <a:ext uri="{FF2B5EF4-FFF2-40B4-BE49-F238E27FC236}">
                <a16:creationId xmlns:a16="http://schemas.microsoft.com/office/drawing/2014/main" id="{F53760A1-1CEB-9978-5A17-706AFE3B70FD}"/>
              </a:ext>
            </a:extLst>
          </p:cNvPr>
          <p:cNvSpPr/>
          <p:nvPr/>
        </p:nvSpPr>
        <p:spPr>
          <a:xfrm>
            <a:off x="270588" y="242596"/>
            <a:ext cx="11616612" cy="5887616"/>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085291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9969"/>
            <a:ext cx="10515600" cy="5532194"/>
          </a:xfrm>
        </p:spPr>
        <p:txBody>
          <a:bodyPr>
            <a:normAutofit/>
          </a:bodyPr>
          <a:lstStyle/>
          <a:p>
            <a:pPr marL="0" indent="0" algn="ctr">
              <a:buNone/>
            </a:pPr>
            <a:endParaRPr lang="en-US" sz="4000" dirty="0">
              <a:latin typeface="Times New Roman" panose="02020603050405020304" pitchFamily="18" charset="0"/>
              <a:cs typeface="Times New Roman" panose="02020603050405020304" pitchFamily="18" charset="0"/>
            </a:endParaRPr>
          </a:p>
          <a:p>
            <a:pPr marL="0" indent="0" algn="ctr">
              <a:buNone/>
            </a:pPr>
            <a:endParaRPr lang="en-US" sz="4000" dirty="0">
              <a:latin typeface="Times New Roman" panose="02020603050405020304" pitchFamily="18" charset="0"/>
              <a:cs typeface="Times New Roman" panose="02020603050405020304" pitchFamily="18" charset="0"/>
            </a:endParaRPr>
          </a:p>
          <a:p>
            <a:pPr marL="0" indent="0" algn="ctr">
              <a:buNone/>
            </a:pPr>
            <a:endParaRPr lang="en-US" sz="4000" dirty="0">
              <a:latin typeface="Times New Roman" panose="02020603050405020304" pitchFamily="18" charset="0"/>
              <a:cs typeface="Times New Roman" panose="02020603050405020304" pitchFamily="18" charset="0"/>
            </a:endParaRPr>
          </a:p>
          <a:p>
            <a:pPr marL="0" indent="0" algn="ctr">
              <a:buNone/>
            </a:pPr>
            <a:endParaRPr lang="en-US" sz="4000" dirty="0">
              <a:latin typeface="Times New Roman" panose="02020603050405020304" pitchFamily="18" charset="0"/>
              <a:cs typeface="Times New Roman" panose="02020603050405020304" pitchFamily="18" charset="0"/>
            </a:endParaRPr>
          </a:p>
          <a:p>
            <a:pPr marL="0" indent="0" algn="ctr">
              <a:buNone/>
            </a:pPr>
            <a:r>
              <a:rPr lang="en-US" sz="4000" b="1" dirty="0">
                <a:latin typeface="Times New Roman" panose="02020603050405020304" pitchFamily="18" charset="0"/>
                <a:cs typeface="Times New Roman" panose="02020603050405020304" pitchFamily="18" charset="0"/>
              </a:rPr>
              <a:t>Thank you!!!</a:t>
            </a:r>
          </a:p>
          <a:p>
            <a:pPr marL="0" indent="0" algn="ctr">
              <a:buNone/>
            </a:pPr>
            <a:endParaRPr lang="en-US" dirty="0"/>
          </a:p>
          <a:p>
            <a:pPr marL="0" indent="0" algn="ctr">
              <a:buNone/>
            </a:pPr>
            <a:endParaRPr lang="en-US" dirty="0"/>
          </a:p>
          <a:p>
            <a:pPr marL="0" indent="0" algn="ctr">
              <a:buNone/>
            </a:pPr>
            <a:endParaRPr lang="en-US" dirty="0"/>
          </a:p>
        </p:txBody>
      </p:sp>
      <p:sp>
        <p:nvSpPr>
          <p:cNvPr id="2" name="Footer Placeholder 1"/>
          <p:cNvSpPr>
            <a:spLocks noGrp="1"/>
          </p:cNvSpPr>
          <p:nvPr>
            <p:ph type="ftr" sz="quarter" idx="11"/>
          </p:nvPr>
        </p:nvSpPr>
        <p:spPr/>
        <p:txBody>
          <a:bodyPr/>
          <a:lstStyle/>
          <a:p>
            <a:r>
              <a:rPr lang="en-IN"/>
              <a:t>Dept.of CSE- AIML &amp; IOT                                                                     VNR VJIET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39*428"/>
  <p:tag name="TABLE_ENDDRAG_RECT" val="10*77*939*42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2134</Words>
  <Application>Microsoft Office PowerPoint</Application>
  <PresentationFormat>Widescreen</PresentationFormat>
  <Paragraphs>130</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 Narrow</vt:lpstr>
      <vt:lpstr>Arial</vt:lpstr>
      <vt:lpstr>Calibri</vt:lpstr>
      <vt:lpstr>Times New Roman</vt:lpstr>
      <vt:lpstr>Wingdings</vt:lpstr>
      <vt:lpstr>Office Theme</vt:lpstr>
      <vt:lpstr>LANGUAGE DETECTION MODEL (using NLP)</vt:lpstr>
      <vt:lpstr>Abstract </vt:lpstr>
      <vt:lpstr>Introduction</vt:lpstr>
      <vt:lpstr>PowerPoint Presentation</vt:lpstr>
      <vt:lpstr>PowerPoint Presentation</vt:lpstr>
      <vt:lpstr>PowerPoint Presentation</vt:lpstr>
      <vt:lpstr>PowerPoint Presentation</vt:lpstr>
      <vt:lpstr>Existing System</vt:lpstr>
      <vt:lpstr>Research Gap Identified</vt:lpstr>
      <vt:lpstr>Proposed System</vt:lpstr>
      <vt:lpstr>Technical Specifications</vt:lpstr>
      <vt:lpstr>PowerPoint Presentation</vt:lpstr>
      <vt:lpstr>UML DIAGRAMS </vt:lpstr>
      <vt:lpstr>PowerPoint Presentation</vt:lpstr>
      <vt:lpstr>PowerPoint Presentation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dc:title>
  <dc:creator>saile k</dc:creator>
  <cp:lastModifiedBy>Abhi Sree Kondu</cp:lastModifiedBy>
  <cp:revision>27</cp:revision>
  <dcterms:created xsi:type="dcterms:W3CDTF">2024-03-01T08:48:00Z</dcterms:created>
  <dcterms:modified xsi:type="dcterms:W3CDTF">2025-01-24T18:16:49Z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7205A37C0278490087C0015560DB5C25_12</vt:lpwstr>
  </property>
  <property fmtid="{D5CDD505-2E9C-101B-9397-08002B2CF9AE}" pid="3" name="KSOProductBuildVer">
    <vt:lpwstr>1033-12.2.0.17119</vt:lpwstr>
  </property>
</Properties>
</file>